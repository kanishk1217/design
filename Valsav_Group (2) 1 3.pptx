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322" autoAdjust="0"/>
    <p:restoredTop sz="94610"/>
  </p:normalViewPr>
  <p:slideViewPr>
    <p:cSldViewPr snapToGrid="0" snapToObjects="1">
      <p:cViewPr varScale="1">
        <p:scale>
          <a:sx n="44" d="100"/>
          <a:sy n="44" d="100"/>
        </p:scale>
        <p:origin x="10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098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agilitytech.ai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.pn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25500" y="-762000"/>
            <a:ext cx="5334000" cy="5334000"/>
          </a:xfrm>
          <a:prstGeom prst="ellipse">
            <a:avLst/>
          </a:prstGeom>
          <a:solidFill>
            <a:srgbClr val="14B8A6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3335000" y="7810500"/>
            <a:ext cx="3048000" cy="3048000"/>
          </a:xfrm>
          <a:prstGeom prst="ellipse">
            <a:avLst/>
          </a:prstGeom>
          <a:solidFill>
            <a:srgbClr val="1E73BE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811000" y="152301"/>
            <a:ext cx="6477000" cy="10134699"/>
          </a:xfrm>
          <a:prstGeom prst="rect">
            <a:avLst/>
          </a:prstGeom>
          <a:solidFill>
            <a:srgbClr val="0B1220">
              <a:alpha val="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41319" y="-374200"/>
            <a:ext cx="2997087" cy="21196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703103" y="685602"/>
            <a:ext cx="9525" cy="2857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55872" y="362936"/>
            <a:ext cx="4260910" cy="93108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28650" y="3052465"/>
            <a:ext cx="9791750" cy="4571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1028650" y="3281040"/>
            <a:ext cx="11576685" cy="2728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600" b="1" kern="0" spc="-14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Automation for Compliance-Driven Teams</a:t>
            </a:r>
            <a:endParaRPr lang="en-US" sz="6600" dirty="0"/>
          </a:p>
        </p:txBody>
      </p:sp>
      <p:sp>
        <p:nvSpPr>
          <p:cNvPr id="11" name="Text 7"/>
          <p:cNvSpPr/>
          <p:nvPr/>
        </p:nvSpPr>
        <p:spPr>
          <a:xfrm>
            <a:off x="1028650" y="6161980"/>
            <a:ext cx="8437245" cy="805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manual document processing, data entry, and reconciliation so your team can focus on advisory and client relationships.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1028650" y="8629799"/>
            <a:ext cx="258544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13" name="Text 9">
            <a:hlinkClick r:id="rId5"/>
          </p:cNvPr>
          <p:cNvSpPr/>
          <p:nvPr/>
        </p:nvSpPr>
        <p:spPr>
          <a:xfrm>
            <a:off x="1028650" y="9506149"/>
            <a:ext cx="2585442" cy="111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u="sng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https://www.agilitytech.ai/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227300" y="8658448"/>
            <a:ext cx="103204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endParaRPr lang="en-US" sz="1425" dirty="0"/>
          </a:p>
        </p:txBody>
      </p:sp>
      <p:sp>
        <p:nvSpPr>
          <p:cNvPr id="15" name="Text 11"/>
          <p:cNvSpPr/>
          <p:nvPr/>
        </p:nvSpPr>
        <p:spPr>
          <a:xfrm>
            <a:off x="16227300" y="8891736"/>
            <a:ext cx="103204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endParaRPr lang="en-US" sz="1425" dirty="0"/>
          </a:p>
        </p:txBody>
      </p:sp>
      <p:sp>
        <p:nvSpPr>
          <p:cNvPr id="16" name="Shape 12"/>
          <p:cNvSpPr/>
          <p:nvPr/>
        </p:nvSpPr>
        <p:spPr>
          <a:xfrm>
            <a:off x="1028650" y="9720461"/>
            <a:ext cx="16230699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16268774" y="9833074"/>
            <a:ext cx="1066775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010673" y="1755844"/>
            <a:ext cx="16717620" cy="26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kern="0" spc="180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2500" dirty="0"/>
          </a:p>
        </p:txBody>
      </p:sp>
      <p:sp>
        <p:nvSpPr>
          <p:cNvPr id="5" name="Text 1"/>
          <p:cNvSpPr/>
          <p:nvPr/>
        </p:nvSpPr>
        <p:spPr>
          <a:xfrm>
            <a:off x="1010673" y="2228879"/>
            <a:ext cx="16717620" cy="1220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4200" b="1" kern="0" spc="-96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 and AI engineering firm that ships production-grade results in weeks.</a:t>
            </a:r>
            <a:endParaRPr lang="en-US" sz="4200" dirty="0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CC798D4-95EB-B6DB-5C25-B8742D773C43}"/>
              </a:ext>
            </a:extLst>
          </p:cNvPr>
          <p:cNvGrpSpPr/>
          <p:nvPr/>
        </p:nvGrpSpPr>
        <p:grpSpPr>
          <a:xfrm>
            <a:off x="1028650" y="3877399"/>
            <a:ext cx="13728479" cy="1403350"/>
            <a:chOff x="1028650" y="3069084"/>
            <a:chExt cx="13728479" cy="1403350"/>
          </a:xfrm>
        </p:grpSpPr>
        <p:sp>
          <p:nvSpPr>
            <p:cNvPr id="6" name="Shape 2"/>
            <p:cNvSpPr/>
            <p:nvPr/>
          </p:nvSpPr>
          <p:spPr>
            <a:xfrm>
              <a:off x="1028650" y="3164334"/>
              <a:ext cx="85700" cy="85700"/>
            </a:xfrm>
            <a:prstGeom prst="ellipse">
              <a:avLst/>
            </a:prstGeom>
            <a:solidFill>
              <a:srgbClr val="1E73B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3"/>
            <p:cNvSpPr/>
            <p:nvPr/>
          </p:nvSpPr>
          <p:spPr>
            <a:xfrm>
              <a:off x="1247676" y="3069084"/>
              <a:ext cx="13509453" cy="673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725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Agility is a data and AI engineering firm. We build production-grade automation systems on your existing tools. Not prototypes, not pilots, not strategy decks.</a:t>
              </a:r>
              <a:endParaRPr lang="en-US" sz="1725" dirty="0"/>
            </a:p>
          </p:txBody>
        </p:sp>
        <p:sp>
          <p:nvSpPr>
            <p:cNvPr id="8" name="Shape 4"/>
            <p:cNvSpPr/>
            <p:nvPr/>
          </p:nvSpPr>
          <p:spPr>
            <a:xfrm>
              <a:off x="1028650" y="3894584"/>
              <a:ext cx="85700" cy="85700"/>
            </a:xfrm>
            <a:prstGeom prst="ellipse">
              <a:avLst/>
            </a:prstGeom>
            <a:solidFill>
              <a:srgbClr val="1E73B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5"/>
            <p:cNvSpPr/>
            <p:nvPr/>
          </p:nvSpPr>
          <p:spPr>
            <a:xfrm>
              <a:off x="1247676" y="3799334"/>
              <a:ext cx="13509453" cy="673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725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Agility engineers data and AI systems for compliance-driven businesses. We own the problem end-to-end: scoping, building, and deploying on your real infrastructure.</a:t>
              </a:r>
              <a:endParaRPr lang="en-US" sz="1725" dirty="0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FC38D73-C8E9-06B4-F21C-071338332C17}"/>
              </a:ext>
            </a:extLst>
          </p:cNvPr>
          <p:cNvGrpSpPr/>
          <p:nvPr/>
        </p:nvGrpSpPr>
        <p:grpSpPr>
          <a:xfrm>
            <a:off x="1010673" y="5685263"/>
            <a:ext cx="16248676" cy="1045890"/>
            <a:chOff x="1028650" y="4567659"/>
            <a:chExt cx="16248676" cy="1045890"/>
          </a:xfrm>
        </p:grpSpPr>
        <p:sp>
          <p:nvSpPr>
            <p:cNvPr id="10" name="Shape 6"/>
            <p:cNvSpPr/>
            <p:nvPr/>
          </p:nvSpPr>
          <p:spPr>
            <a:xfrm>
              <a:off x="1028650" y="4567659"/>
              <a:ext cx="8058174" cy="1045890"/>
            </a:xfrm>
            <a:prstGeom prst="roundRect">
              <a:avLst>
                <a:gd name="adj" fmla="val 10018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Shape 7"/>
            <p:cNvSpPr/>
            <p:nvPr/>
          </p:nvSpPr>
          <p:spPr>
            <a:xfrm>
              <a:off x="1227088" y="4727897"/>
              <a:ext cx="323825" cy="323825"/>
            </a:xfrm>
            <a:prstGeom prst="ellipse">
              <a:avLst/>
            </a:prstGeom>
            <a:solidFill>
              <a:srgbClr val="1E73B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8"/>
            <p:cNvSpPr/>
            <p:nvPr/>
          </p:nvSpPr>
          <p:spPr>
            <a:xfrm>
              <a:off x="1188988" y="4727897"/>
              <a:ext cx="400025" cy="3619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01</a:t>
              </a:r>
              <a:endParaRPr lang="en-US" sz="1125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1674688" y="4727897"/>
              <a:ext cx="7430110" cy="2682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From 3 Hours to 5 Minutes. On Your Real Data.</a:t>
              </a:r>
              <a:endParaRPr lang="en-US" sz="150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1674688" y="4996160"/>
              <a:ext cx="7430110" cy="4952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We pick your highest-pain manual process, PDF extraction, multi-platform data entry, compliance tracking, and automate it end-to-end. You measure the result on live data before we go any further.</a:t>
              </a:r>
              <a:endParaRPr lang="en-US" sz="1200" dirty="0"/>
            </a:p>
          </p:txBody>
        </p:sp>
        <p:sp>
          <p:nvSpPr>
            <p:cNvPr id="15" name="Shape 11"/>
            <p:cNvSpPr/>
            <p:nvPr/>
          </p:nvSpPr>
          <p:spPr>
            <a:xfrm>
              <a:off x="9201051" y="4567659"/>
              <a:ext cx="8058299" cy="1045890"/>
            </a:xfrm>
            <a:prstGeom prst="roundRect">
              <a:avLst>
                <a:gd name="adj" fmla="val 10018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Shape 12"/>
            <p:cNvSpPr/>
            <p:nvPr/>
          </p:nvSpPr>
          <p:spPr>
            <a:xfrm>
              <a:off x="9399488" y="4727897"/>
              <a:ext cx="323825" cy="323825"/>
            </a:xfrm>
            <a:prstGeom prst="ellipse">
              <a:avLst/>
            </a:prstGeom>
            <a:solidFill>
              <a:srgbClr val="1E73B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3"/>
            <p:cNvSpPr/>
            <p:nvPr/>
          </p:nvSpPr>
          <p:spPr>
            <a:xfrm>
              <a:off x="9361388" y="4727897"/>
              <a:ext cx="400025" cy="3619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02</a:t>
              </a:r>
              <a:endParaRPr lang="en-US" sz="1125" dirty="0"/>
            </a:p>
          </p:txBody>
        </p:sp>
        <p:sp>
          <p:nvSpPr>
            <p:cNvPr id="18" name="Text 14"/>
            <p:cNvSpPr/>
            <p:nvPr/>
          </p:nvSpPr>
          <p:spPr>
            <a:xfrm>
              <a:off x="9847088" y="4727897"/>
              <a:ext cx="7430238" cy="2682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Trusted Across 30+ Countries. Rated 5 Stars on Clutch.</a:t>
              </a:r>
              <a:endParaRPr lang="en-US" sz="1500" dirty="0"/>
            </a:p>
          </p:txBody>
        </p:sp>
        <p:sp>
          <p:nvSpPr>
            <p:cNvPr id="19" name="Text 15"/>
            <p:cNvSpPr/>
            <p:nvPr/>
          </p:nvSpPr>
          <p:spPr>
            <a:xfrm>
              <a:off x="9847088" y="4996160"/>
              <a:ext cx="7430238" cy="4952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account managers in the middle, no handoffs. Priced 40–60% below Big-4. ROI tracked from day one.</a:t>
              </a:r>
              <a:endParaRPr lang="en-US" sz="1200" dirty="0"/>
            </a:p>
          </p:txBody>
        </p:sp>
      </p:grpSp>
      <p:sp>
        <p:nvSpPr>
          <p:cNvPr id="67" name="Shape 57"/>
          <p:cNvSpPr/>
          <p:nvPr/>
        </p:nvSpPr>
        <p:spPr>
          <a:xfrm>
            <a:off x="1028650" y="9720461"/>
            <a:ext cx="16230699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58"/>
          <p:cNvSpPr/>
          <p:nvPr/>
        </p:nvSpPr>
        <p:spPr>
          <a:xfrm>
            <a:off x="16315779" y="9833074"/>
            <a:ext cx="1019770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350" dirty="0"/>
          </a:p>
        </p:txBody>
      </p:sp>
      <p:pic>
        <p:nvPicPr>
          <p:cNvPr id="75" name="Image 0" descr="preencoded.png">
            <a:extLst>
              <a:ext uri="{FF2B5EF4-FFF2-40B4-BE49-F238E27FC236}">
                <a16:creationId xmlns:a16="http://schemas.microsoft.com/office/drawing/2014/main" id="{EF603DC2-9827-246C-2726-64B28CC63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41319" y="-374200"/>
            <a:ext cx="2997087" cy="2119604"/>
          </a:xfrm>
          <a:prstGeom prst="rect">
            <a:avLst/>
          </a:prstGeom>
        </p:spPr>
      </p:pic>
      <p:pic>
        <p:nvPicPr>
          <p:cNvPr id="77" name="Image 1" descr="preencoded.png">
            <a:extLst>
              <a:ext uri="{FF2B5EF4-FFF2-40B4-BE49-F238E27FC236}">
                <a16:creationId xmlns:a16="http://schemas.microsoft.com/office/drawing/2014/main" id="{4AB25BAB-A4C7-BBB3-E36F-D3AFE48007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55872" y="362936"/>
            <a:ext cx="4260910" cy="931081"/>
          </a:xfrm>
          <a:prstGeom prst="rect">
            <a:avLst/>
          </a:prstGeom>
        </p:spPr>
      </p:pic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35F4045-E3F0-40CF-A9FC-10937F71DD89}"/>
              </a:ext>
            </a:extLst>
          </p:cNvPr>
          <p:cNvGrpSpPr/>
          <p:nvPr/>
        </p:nvGrpSpPr>
        <p:grpSpPr>
          <a:xfrm>
            <a:off x="1067724" y="7054234"/>
            <a:ext cx="16230699" cy="2369344"/>
            <a:chOff x="1028650" y="5746874"/>
            <a:chExt cx="16230699" cy="2369344"/>
          </a:xfrm>
        </p:grpSpPr>
        <p:sp>
          <p:nvSpPr>
            <p:cNvPr id="20" name="Shape 16"/>
            <p:cNvSpPr/>
            <p:nvPr/>
          </p:nvSpPr>
          <p:spPr>
            <a:xfrm>
              <a:off x="1028650" y="5746874"/>
              <a:ext cx="5321350" cy="2369344"/>
            </a:xfrm>
            <a:prstGeom prst="roundRect">
              <a:avLst>
                <a:gd name="adj" fmla="val 5226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2" name="Text 17"/>
            <p:cNvSpPr/>
            <p:nvPr/>
          </p:nvSpPr>
          <p:spPr>
            <a:xfrm>
              <a:off x="1779364" y="6025307"/>
              <a:ext cx="333425" cy="31591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</a:t>
              </a:r>
              <a:endParaRPr lang="en-US" sz="1800" dirty="0"/>
            </a:p>
          </p:txBody>
        </p:sp>
        <p:sp>
          <p:nvSpPr>
            <p:cNvPr id="23" name="Text 18"/>
            <p:cNvSpPr/>
            <p:nvPr/>
          </p:nvSpPr>
          <p:spPr>
            <a:xfrm>
              <a:off x="1265163" y="6478488"/>
              <a:ext cx="4993774" cy="5257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6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We build custom LLM pipelines and document intelligence systems that read, extract, and act on your data without human input.</a:t>
              </a:r>
              <a:endParaRPr lang="en-US" sz="1200" dirty="0"/>
            </a:p>
          </p:txBody>
        </p:sp>
        <p:sp>
          <p:nvSpPr>
            <p:cNvPr id="34" name="Shape 29"/>
            <p:cNvSpPr/>
            <p:nvPr/>
          </p:nvSpPr>
          <p:spPr>
            <a:xfrm>
              <a:off x="6483325" y="5746874"/>
              <a:ext cx="5321350" cy="2369344"/>
            </a:xfrm>
            <a:prstGeom prst="roundRect">
              <a:avLst>
                <a:gd name="adj" fmla="val 5226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pic>
          <p:nvPicPr>
            <p:cNvPr id="35" name="Image 3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719838" y="5964287"/>
              <a:ext cx="399976" cy="399976"/>
            </a:xfrm>
            <a:prstGeom prst="rect">
              <a:avLst/>
            </a:prstGeom>
          </p:spPr>
        </p:pic>
        <p:sp>
          <p:nvSpPr>
            <p:cNvPr id="36" name="Text 30"/>
            <p:cNvSpPr/>
            <p:nvPr/>
          </p:nvSpPr>
          <p:spPr>
            <a:xfrm>
              <a:off x="7234039" y="6025307"/>
              <a:ext cx="650553" cy="31591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</a:t>
              </a:r>
              <a:endParaRPr lang="en-US" sz="1800" dirty="0"/>
            </a:p>
          </p:txBody>
        </p:sp>
        <p:sp>
          <p:nvSpPr>
            <p:cNvPr id="37" name="Text 31"/>
            <p:cNvSpPr/>
            <p:nvPr/>
          </p:nvSpPr>
          <p:spPr>
            <a:xfrm>
              <a:off x="6719838" y="6478488"/>
              <a:ext cx="4993774" cy="5257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6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We unify your data across every platform you run, Tally, QuickBooks, Xero, and more, into a single live layer your team can actually use.</a:t>
              </a:r>
              <a:endParaRPr lang="en-US" sz="1200" dirty="0"/>
            </a:p>
          </p:txBody>
        </p:sp>
        <p:sp>
          <p:nvSpPr>
            <p:cNvPr id="51" name="Shape 44"/>
            <p:cNvSpPr/>
            <p:nvPr/>
          </p:nvSpPr>
          <p:spPr>
            <a:xfrm>
              <a:off x="11937999" y="5746874"/>
              <a:ext cx="5321350" cy="2369344"/>
            </a:xfrm>
            <a:prstGeom prst="roundRect">
              <a:avLst>
                <a:gd name="adj" fmla="val 5226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52" name="Image 5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2174513" y="5964287"/>
              <a:ext cx="399976" cy="399976"/>
            </a:xfrm>
            <a:prstGeom prst="rect">
              <a:avLst/>
            </a:prstGeom>
          </p:spPr>
        </p:pic>
        <p:sp>
          <p:nvSpPr>
            <p:cNvPr id="53" name="Text 45"/>
            <p:cNvSpPr/>
            <p:nvPr/>
          </p:nvSpPr>
          <p:spPr>
            <a:xfrm>
              <a:off x="12688714" y="6025307"/>
              <a:ext cx="1530127" cy="31591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Automation</a:t>
              </a:r>
              <a:endParaRPr lang="en-US" sz="1800" dirty="0"/>
            </a:p>
          </p:txBody>
        </p:sp>
        <p:sp>
          <p:nvSpPr>
            <p:cNvPr id="54" name="Text 46"/>
            <p:cNvSpPr/>
            <p:nvPr/>
          </p:nvSpPr>
          <p:spPr>
            <a:xfrm>
              <a:off x="12174513" y="6478488"/>
              <a:ext cx="4993774" cy="76959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6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We eliminate the manual layer, PDF extraction, data entry, reconciliation, compliance tracking, and replace it with systems that run without your team touching them.</a:t>
              </a:r>
              <a:endParaRPr lang="en-US" sz="1200" dirty="0"/>
            </a:p>
          </p:txBody>
        </p:sp>
        <p:pic>
          <p:nvPicPr>
            <p:cNvPr id="78" name="Picture 77" descr="File:Claude AI symbol.svg - Wikimedia Commons">
              <a:extLst>
                <a:ext uri="{FF2B5EF4-FFF2-40B4-BE49-F238E27FC236}">
                  <a16:creationId xmlns:a16="http://schemas.microsoft.com/office/drawing/2014/main" id="{549FD402-854F-8875-0E57-F24790D67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1336427" y="5979294"/>
              <a:ext cx="361925" cy="361925"/>
            </a:xfrm>
            <a:prstGeom prst="rect">
              <a:avLst/>
            </a:prstGeom>
          </p:spPr>
        </p:pic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7CB1B40A-C25E-8454-7115-4F3B34753E0B}"/>
                </a:ext>
              </a:extLst>
            </p:cNvPr>
            <p:cNvGrpSpPr/>
            <p:nvPr/>
          </p:nvGrpSpPr>
          <p:grpSpPr>
            <a:xfrm>
              <a:off x="1093838" y="7384478"/>
              <a:ext cx="5165099" cy="351383"/>
              <a:chOff x="1265163" y="7324204"/>
              <a:chExt cx="5307087" cy="254000"/>
            </a:xfrm>
          </p:grpSpPr>
          <p:sp>
            <p:nvSpPr>
              <p:cNvPr id="108" name="Shape 19">
                <a:extLst>
                  <a:ext uri="{FF2B5EF4-FFF2-40B4-BE49-F238E27FC236}">
                    <a16:creationId xmlns:a16="http://schemas.microsoft.com/office/drawing/2014/main" id="{5FD98A4C-CE58-4C85-360C-B59C0AEF2275}"/>
                  </a:ext>
                </a:extLst>
              </p:cNvPr>
              <p:cNvSpPr/>
              <p:nvPr/>
            </p:nvSpPr>
            <p:spPr>
              <a:xfrm>
                <a:off x="1265163" y="7324204"/>
                <a:ext cx="1076895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09" name="Text 20">
                <a:extLst>
                  <a:ext uri="{FF2B5EF4-FFF2-40B4-BE49-F238E27FC236}">
                    <a16:creationId xmlns:a16="http://schemas.microsoft.com/office/drawing/2014/main" id="{6D9006E2-2CC2-F70D-E81B-6CE637225638}"/>
                  </a:ext>
                </a:extLst>
              </p:cNvPr>
              <p:cNvSpPr/>
              <p:nvPr/>
            </p:nvSpPr>
            <p:spPr>
              <a:xfrm>
                <a:off x="1387401" y="7379767"/>
                <a:ext cx="908620" cy="180975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LLM Pipelines</a:t>
                </a:r>
                <a:endParaRPr lang="en-US" sz="975" dirty="0"/>
              </a:p>
            </p:txBody>
          </p:sp>
          <p:sp>
            <p:nvSpPr>
              <p:cNvPr id="110" name="Shape 21">
                <a:extLst>
                  <a:ext uri="{FF2B5EF4-FFF2-40B4-BE49-F238E27FC236}">
                    <a16:creationId xmlns:a16="http://schemas.microsoft.com/office/drawing/2014/main" id="{5D80B4F0-32CB-1860-C1A5-2899FEB7E635}"/>
                  </a:ext>
                </a:extLst>
              </p:cNvPr>
              <p:cNvSpPr/>
              <p:nvPr/>
            </p:nvSpPr>
            <p:spPr>
              <a:xfrm>
                <a:off x="2408659" y="7324204"/>
                <a:ext cx="1565424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11" name="Text 22">
                <a:extLst>
                  <a:ext uri="{FF2B5EF4-FFF2-40B4-BE49-F238E27FC236}">
                    <a16:creationId xmlns:a16="http://schemas.microsoft.com/office/drawing/2014/main" id="{12C6079B-3165-E307-FC2B-61BA47180D28}"/>
                  </a:ext>
                </a:extLst>
              </p:cNvPr>
              <p:cNvSpPr/>
              <p:nvPr/>
            </p:nvSpPr>
            <p:spPr>
              <a:xfrm>
                <a:off x="2530897" y="7379767"/>
                <a:ext cx="1397149" cy="180975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Document Intelligence</a:t>
                </a:r>
                <a:endParaRPr lang="en-US" sz="975" dirty="0"/>
              </a:p>
            </p:txBody>
          </p:sp>
          <p:sp>
            <p:nvSpPr>
              <p:cNvPr id="112" name="Shape 23">
                <a:extLst>
                  <a:ext uri="{FF2B5EF4-FFF2-40B4-BE49-F238E27FC236}">
                    <a16:creationId xmlns:a16="http://schemas.microsoft.com/office/drawing/2014/main" id="{D2187F97-EBE1-4AE0-924F-2974D683761A}"/>
                  </a:ext>
                </a:extLst>
              </p:cNvPr>
              <p:cNvSpPr/>
              <p:nvPr/>
            </p:nvSpPr>
            <p:spPr>
              <a:xfrm>
                <a:off x="4040684" y="7324204"/>
                <a:ext cx="677788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13" name="Text 24">
                <a:extLst>
                  <a:ext uri="{FF2B5EF4-FFF2-40B4-BE49-F238E27FC236}">
                    <a16:creationId xmlns:a16="http://schemas.microsoft.com/office/drawing/2014/main" id="{7B98247D-C542-A0D6-8A25-DA58CD0C6E43}"/>
                  </a:ext>
                </a:extLst>
              </p:cNvPr>
              <p:cNvSpPr/>
              <p:nvPr/>
            </p:nvSpPr>
            <p:spPr>
              <a:xfrm>
                <a:off x="4162921" y="7379767"/>
                <a:ext cx="509513" cy="180975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GPT-4o</a:t>
                </a:r>
                <a:endParaRPr lang="en-US" sz="975" dirty="0"/>
              </a:p>
            </p:txBody>
          </p:sp>
          <p:sp>
            <p:nvSpPr>
              <p:cNvPr id="114" name="Shape 25">
                <a:extLst>
                  <a:ext uri="{FF2B5EF4-FFF2-40B4-BE49-F238E27FC236}">
                    <a16:creationId xmlns:a16="http://schemas.microsoft.com/office/drawing/2014/main" id="{A32DA2B9-8E83-5847-BAC0-793E2DF3BA66}"/>
                  </a:ext>
                </a:extLst>
              </p:cNvPr>
              <p:cNvSpPr/>
              <p:nvPr/>
            </p:nvSpPr>
            <p:spPr>
              <a:xfrm>
                <a:off x="4785072" y="7324204"/>
                <a:ext cx="657200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15" name="Text 26">
                <a:extLst>
                  <a:ext uri="{FF2B5EF4-FFF2-40B4-BE49-F238E27FC236}">
                    <a16:creationId xmlns:a16="http://schemas.microsoft.com/office/drawing/2014/main" id="{5FF94F37-E788-804E-16B8-6FDEE6E6A447}"/>
                  </a:ext>
                </a:extLst>
              </p:cNvPr>
              <p:cNvSpPr/>
              <p:nvPr/>
            </p:nvSpPr>
            <p:spPr>
              <a:xfrm>
                <a:off x="4907310" y="7379767"/>
                <a:ext cx="488925" cy="180975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Claude</a:t>
                </a:r>
                <a:endParaRPr lang="en-US" sz="975" dirty="0"/>
              </a:p>
            </p:txBody>
          </p:sp>
          <p:sp>
            <p:nvSpPr>
              <p:cNvPr id="116" name="Shape 27">
                <a:extLst>
                  <a:ext uri="{FF2B5EF4-FFF2-40B4-BE49-F238E27FC236}">
                    <a16:creationId xmlns:a16="http://schemas.microsoft.com/office/drawing/2014/main" id="{C5C825BF-822E-217E-211D-400CB2A34AA1}"/>
                  </a:ext>
                </a:extLst>
              </p:cNvPr>
              <p:cNvSpPr/>
              <p:nvPr/>
            </p:nvSpPr>
            <p:spPr>
              <a:xfrm>
                <a:off x="5508873" y="7324204"/>
                <a:ext cx="1063377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17" name="Text 28">
                <a:extLst>
                  <a:ext uri="{FF2B5EF4-FFF2-40B4-BE49-F238E27FC236}">
                    <a16:creationId xmlns:a16="http://schemas.microsoft.com/office/drawing/2014/main" id="{5C4599C1-2C03-B5CD-6D61-A4FB5F885780}"/>
                  </a:ext>
                </a:extLst>
              </p:cNvPr>
              <p:cNvSpPr/>
              <p:nvPr/>
            </p:nvSpPr>
            <p:spPr>
              <a:xfrm>
                <a:off x="5631111" y="7379767"/>
                <a:ext cx="895102" cy="180975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RAG Systems</a:t>
                </a:r>
                <a:endParaRPr lang="en-US" sz="975" dirty="0"/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4DE775C2-E8C0-97DF-A79D-D217FC2227D9}"/>
                </a:ext>
              </a:extLst>
            </p:cNvPr>
            <p:cNvGrpSpPr/>
            <p:nvPr/>
          </p:nvGrpSpPr>
          <p:grpSpPr>
            <a:xfrm>
              <a:off x="6998951" y="7457704"/>
              <a:ext cx="4290095" cy="254000"/>
              <a:chOff x="7178600" y="7324204"/>
              <a:chExt cx="4290095" cy="254000"/>
            </a:xfrm>
          </p:grpSpPr>
          <p:sp>
            <p:nvSpPr>
              <p:cNvPr id="118" name="Shape 32">
                <a:extLst>
                  <a:ext uri="{FF2B5EF4-FFF2-40B4-BE49-F238E27FC236}">
                    <a16:creationId xmlns:a16="http://schemas.microsoft.com/office/drawing/2014/main" id="{89337ED5-11A9-DBA1-E5AD-5824BC411CB4}"/>
                  </a:ext>
                </a:extLst>
              </p:cNvPr>
              <p:cNvSpPr/>
              <p:nvPr/>
            </p:nvSpPr>
            <p:spPr>
              <a:xfrm>
                <a:off x="7178600" y="7324204"/>
                <a:ext cx="964530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pic>
            <p:nvPicPr>
              <p:cNvPr id="119" name="Image 4" descr="preencoded.png">
                <a:extLst>
                  <a:ext uri="{FF2B5EF4-FFF2-40B4-BE49-F238E27FC236}">
                    <a16:creationId xmlns:a16="http://schemas.microsoft.com/office/drawing/2014/main" id="{4EE2989D-1618-F43F-D4AB-08F608E352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-39189" b="-39189"/>
              <a:stretch/>
            </p:blipFill>
            <p:spPr>
              <a:xfrm>
                <a:off x="7300764" y="7384479"/>
                <a:ext cx="133325" cy="133325"/>
              </a:xfrm>
              <a:prstGeom prst="rect">
                <a:avLst/>
              </a:prstGeom>
            </p:spPr>
          </p:pic>
          <p:sp>
            <p:nvSpPr>
              <p:cNvPr id="120" name="Text 33">
                <a:extLst>
                  <a:ext uri="{FF2B5EF4-FFF2-40B4-BE49-F238E27FC236}">
                    <a16:creationId xmlns:a16="http://schemas.microsoft.com/office/drawing/2014/main" id="{400ECA67-CDD9-27E0-A5A0-DD7AEE118EE3}"/>
                  </a:ext>
                </a:extLst>
              </p:cNvPr>
              <p:cNvSpPr/>
              <p:nvPr/>
            </p:nvSpPr>
            <p:spPr>
              <a:xfrm>
                <a:off x="7491139" y="7379766"/>
                <a:ext cx="606028" cy="17303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Power BI</a:t>
                </a:r>
                <a:endParaRPr lang="en-US" sz="975" dirty="0"/>
              </a:p>
            </p:txBody>
          </p:sp>
          <p:sp>
            <p:nvSpPr>
              <p:cNvPr id="121" name="Shape 34">
                <a:extLst>
                  <a:ext uri="{FF2B5EF4-FFF2-40B4-BE49-F238E27FC236}">
                    <a16:creationId xmlns:a16="http://schemas.microsoft.com/office/drawing/2014/main" id="{75C874C1-CE77-1EFC-9C1A-78A2214DBE0C}"/>
                  </a:ext>
                </a:extLst>
              </p:cNvPr>
              <p:cNvSpPr/>
              <p:nvPr/>
            </p:nvSpPr>
            <p:spPr>
              <a:xfrm>
                <a:off x="8209731" y="7324204"/>
                <a:ext cx="703089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22" name="Text 35">
                <a:extLst>
                  <a:ext uri="{FF2B5EF4-FFF2-40B4-BE49-F238E27FC236}">
                    <a16:creationId xmlns:a16="http://schemas.microsoft.com/office/drawing/2014/main" id="{26F05437-9850-EE30-B27E-A1D7BE88448B}"/>
                  </a:ext>
                </a:extLst>
              </p:cNvPr>
              <p:cNvSpPr/>
              <p:nvPr/>
            </p:nvSpPr>
            <p:spPr>
              <a:xfrm>
                <a:off x="8331969" y="7379767"/>
                <a:ext cx="534814" cy="180975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Tableau</a:t>
                </a:r>
                <a:endParaRPr lang="en-US" sz="975" dirty="0"/>
              </a:p>
            </p:txBody>
          </p:sp>
          <p:sp>
            <p:nvSpPr>
              <p:cNvPr id="123" name="Shape 36">
                <a:extLst>
                  <a:ext uri="{FF2B5EF4-FFF2-40B4-BE49-F238E27FC236}">
                    <a16:creationId xmlns:a16="http://schemas.microsoft.com/office/drawing/2014/main" id="{75B1F3E9-3AD3-BFE9-23D1-6BD49329E8ED}"/>
                  </a:ext>
                </a:extLst>
              </p:cNvPr>
              <p:cNvSpPr/>
              <p:nvPr/>
            </p:nvSpPr>
            <p:spPr>
              <a:xfrm>
                <a:off x="8979421" y="7324204"/>
                <a:ext cx="657200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24" name="Text 37">
                <a:extLst>
                  <a:ext uri="{FF2B5EF4-FFF2-40B4-BE49-F238E27FC236}">
                    <a16:creationId xmlns:a16="http://schemas.microsoft.com/office/drawing/2014/main" id="{3C55E134-46F3-B7D2-456B-E74E5AD79E29}"/>
                  </a:ext>
                </a:extLst>
              </p:cNvPr>
              <p:cNvSpPr/>
              <p:nvPr/>
            </p:nvSpPr>
            <p:spPr>
              <a:xfrm>
                <a:off x="9101658" y="7379767"/>
                <a:ext cx="488925" cy="180975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Looker</a:t>
                </a:r>
                <a:endParaRPr lang="en-US" sz="975" dirty="0"/>
              </a:p>
            </p:txBody>
          </p:sp>
          <p:sp>
            <p:nvSpPr>
              <p:cNvPr id="125" name="Shape 38">
                <a:extLst>
                  <a:ext uri="{FF2B5EF4-FFF2-40B4-BE49-F238E27FC236}">
                    <a16:creationId xmlns:a16="http://schemas.microsoft.com/office/drawing/2014/main" id="{AF01E3E8-7C7A-51D8-C179-EE0E01F2E38A}"/>
                  </a:ext>
                </a:extLst>
              </p:cNvPr>
              <p:cNvSpPr/>
              <p:nvPr/>
            </p:nvSpPr>
            <p:spPr>
              <a:xfrm>
                <a:off x="9703222" y="7324204"/>
                <a:ext cx="526479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26" name="Text 39">
                <a:extLst>
                  <a:ext uri="{FF2B5EF4-FFF2-40B4-BE49-F238E27FC236}">
                    <a16:creationId xmlns:a16="http://schemas.microsoft.com/office/drawing/2014/main" id="{BEBBD0A2-6008-CD62-003B-0440DB11423B}"/>
                  </a:ext>
                </a:extLst>
              </p:cNvPr>
              <p:cNvSpPr/>
              <p:nvPr/>
            </p:nvSpPr>
            <p:spPr>
              <a:xfrm>
                <a:off x="9825459" y="7379767"/>
                <a:ext cx="358204" cy="180975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AWS</a:t>
                </a:r>
                <a:endParaRPr lang="en-US" sz="975" dirty="0"/>
              </a:p>
            </p:txBody>
          </p:sp>
          <p:sp>
            <p:nvSpPr>
              <p:cNvPr id="127" name="Shape 40">
                <a:extLst>
                  <a:ext uri="{FF2B5EF4-FFF2-40B4-BE49-F238E27FC236}">
                    <a16:creationId xmlns:a16="http://schemas.microsoft.com/office/drawing/2014/main" id="{DFA55337-B8EB-1AF5-EE94-F5E7C4589864}"/>
                  </a:ext>
                </a:extLst>
              </p:cNvPr>
              <p:cNvSpPr/>
              <p:nvPr/>
            </p:nvSpPr>
            <p:spPr>
              <a:xfrm>
                <a:off x="10296302" y="7324204"/>
                <a:ext cx="588367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28" name="Text 41">
                <a:extLst>
                  <a:ext uri="{FF2B5EF4-FFF2-40B4-BE49-F238E27FC236}">
                    <a16:creationId xmlns:a16="http://schemas.microsoft.com/office/drawing/2014/main" id="{3B369885-690F-239D-85C8-0CB14083E950}"/>
                  </a:ext>
                </a:extLst>
              </p:cNvPr>
              <p:cNvSpPr/>
              <p:nvPr/>
            </p:nvSpPr>
            <p:spPr>
              <a:xfrm>
                <a:off x="10418539" y="7379767"/>
                <a:ext cx="420092" cy="180975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Azure</a:t>
                </a:r>
                <a:endParaRPr lang="en-US" sz="975" dirty="0"/>
              </a:p>
            </p:txBody>
          </p:sp>
          <p:sp>
            <p:nvSpPr>
              <p:cNvPr id="129" name="Shape 42">
                <a:extLst>
                  <a:ext uri="{FF2B5EF4-FFF2-40B4-BE49-F238E27FC236}">
                    <a16:creationId xmlns:a16="http://schemas.microsoft.com/office/drawing/2014/main" id="{298A4802-8F59-7D81-F73A-E45CD9B08A09}"/>
                  </a:ext>
                </a:extLst>
              </p:cNvPr>
              <p:cNvSpPr/>
              <p:nvPr/>
            </p:nvSpPr>
            <p:spPr>
              <a:xfrm>
                <a:off x="10951269" y="7324204"/>
                <a:ext cx="517426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30" name="Text 43">
                <a:extLst>
                  <a:ext uri="{FF2B5EF4-FFF2-40B4-BE49-F238E27FC236}">
                    <a16:creationId xmlns:a16="http://schemas.microsoft.com/office/drawing/2014/main" id="{D4BC8CCD-56B9-5795-5D48-412877522E34}"/>
                  </a:ext>
                </a:extLst>
              </p:cNvPr>
              <p:cNvSpPr/>
              <p:nvPr/>
            </p:nvSpPr>
            <p:spPr>
              <a:xfrm>
                <a:off x="11073506" y="7379767"/>
                <a:ext cx="349151" cy="180975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Tally</a:t>
                </a:r>
                <a:endParaRPr lang="en-US" sz="975" dirty="0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B1E301C9-26C4-6086-50D2-055590B54A4F}"/>
                </a:ext>
              </a:extLst>
            </p:cNvPr>
            <p:cNvGrpSpPr/>
            <p:nvPr/>
          </p:nvGrpSpPr>
          <p:grpSpPr>
            <a:xfrm>
              <a:off x="12029009" y="7452268"/>
              <a:ext cx="5157142" cy="254000"/>
              <a:chOff x="12075046" y="7324204"/>
              <a:chExt cx="5157142" cy="254000"/>
            </a:xfrm>
          </p:grpSpPr>
          <p:sp>
            <p:nvSpPr>
              <p:cNvPr id="131" name="Shape 47">
                <a:extLst>
                  <a:ext uri="{FF2B5EF4-FFF2-40B4-BE49-F238E27FC236}">
                    <a16:creationId xmlns:a16="http://schemas.microsoft.com/office/drawing/2014/main" id="{7E28F609-425B-D542-7AF9-1EFA66DF4921}"/>
                  </a:ext>
                </a:extLst>
              </p:cNvPr>
              <p:cNvSpPr/>
              <p:nvPr/>
            </p:nvSpPr>
            <p:spPr>
              <a:xfrm>
                <a:off x="12075046" y="7324204"/>
                <a:ext cx="1312788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pic>
            <p:nvPicPr>
              <p:cNvPr id="132" name="Image 6" descr="preencoded.png">
                <a:extLst>
                  <a:ext uri="{FF2B5EF4-FFF2-40B4-BE49-F238E27FC236}">
                    <a16:creationId xmlns:a16="http://schemas.microsoft.com/office/drawing/2014/main" id="{553658CC-5734-074A-83E9-FB8DD46ADD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t="-3716" b="-3716"/>
              <a:stretch/>
            </p:blipFill>
            <p:spPr>
              <a:xfrm>
                <a:off x="12197209" y="7389316"/>
                <a:ext cx="123775" cy="123775"/>
              </a:xfrm>
              <a:prstGeom prst="rect">
                <a:avLst/>
              </a:prstGeom>
            </p:spPr>
          </p:pic>
          <p:sp>
            <p:nvSpPr>
              <p:cNvPr id="133" name="Text 48">
                <a:extLst>
                  <a:ext uri="{FF2B5EF4-FFF2-40B4-BE49-F238E27FC236}">
                    <a16:creationId xmlns:a16="http://schemas.microsoft.com/office/drawing/2014/main" id="{B0026316-60EC-FF4C-8212-61AC79DD5D4B}"/>
                  </a:ext>
                </a:extLst>
              </p:cNvPr>
              <p:cNvSpPr/>
              <p:nvPr/>
            </p:nvSpPr>
            <p:spPr>
              <a:xfrm>
                <a:off x="12378035" y="7379766"/>
                <a:ext cx="963835" cy="17303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PDF Extraction</a:t>
                </a:r>
                <a:endParaRPr lang="en-US" sz="975" dirty="0"/>
              </a:p>
            </p:txBody>
          </p:sp>
          <p:sp>
            <p:nvSpPr>
              <p:cNvPr id="134" name="Shape 49">
                <a:extLst>
                  <a:ext uri="{FF2B5EF4-FFF2-40B4-BE49-F238E27FC236}">
                    <a16:creationId xmlns:a16="http://schemas.microsoft.com/office/drawing/2014/main" id="{F7182FDC-9EBF-0D60-9626-540AE2A984CE}"/>
                  </a:ext>
                </a:extLst>
              </p:cNvPr>
              <p:cNvSpPr/>
              <p:nvPr/>
            </p:nvSpPr>
            <p:spPr>
              <a:xfrm>
                <a:off x="13454435" y="7324204"/>
                <a:ext cx="1188889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pic>
            <p:nvPicPr>
              <p:cNvPr id="135" name="Image 7" descr="preencoded.png">
                <a:extLst>
                  <a:ext uri="{FF2B5EF4-FFF2-40B4-BE49-F238E27FC236}">
                    <a16:creationId xmlns:a16="http://schemas.microsoft.com/office/drawing/2014/main" id="{E1C19CBE-4FEB-7C81-C581-49539CF8B6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t="-37838" b="-37838"/>
              <a:stretch/>
            </p:blipFill>
            <p:spPr>
              <a:xfrm>
                <a:off x="13576597" y="7389316"/>
                <a:ext cx="123775" cy="123775"/>
              </a:xfrm>
              <a:prstGeom prst="rect">
                <a:avLst/>
              </a:prstGeom>
            </p:spPr>
          </p:pic>
          <p:sp>
            <p:nvSpPr>
              <p:cNvPr id="136" name="Text 50">
                <a:extLst>
                  <a:ext uri="{FF2B5EF4-FFF2-40B4-BE49-F238E27FC236}">
                    <a16:creationId xmlns:a16="http://schemas.microsoft.com/office/drawing/2014/main" id="{64DFF749-A0CA-D2E3-11BE-18ACD2BA3AA1}"/>
                  </a:ext>
                </a:extLst>
              </p:cNvPr>
              <p:cNvSpPr/>
              <p:nvPr/>
            </p:nvSpPr>
            <p:spPr>
              <a:xfrm>
                <a:off x="13757423" y="7379766"/>
                <a:ext cx="839937" cy="17303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Excel Output</a:t>
                </a:r>
                <a:endParaRPr lang="en-US" sz="975" dirty="0"/>
              </a:p>
            </p:txBody>
          </p:sp>
          <p:sp>
            <p:nvSpPr>
              <p:cNvPr id="137" name="Shape 51">
                <a:extLst>
                  <a:ext uri="{FF2B5EF4-FFF2-40B4-BE49-F238E27FC236}">
                    <a16:creationId xmlns:a16="http://schemas.microsoft.com/office/drawing/2014/main" id="{7B2F06A4-15D2-F587-5ED2-7E19484139FC}"/>
                  </a:ext>
                </a:extLst>
              </p:cNvPr>
              <p:cNvSpPr/>
              <p:nvPr/>
            </p:nvSpPr>
            <p:spPr>
              <a:xfrm>
                <a:off x="14709923" y="7324204"/>
                <a:ext cx="517426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38" name="Text 52">
                <a:extLst>
                  <a:ext uri="{FF2B5EF4-FFF2-40B4-BE49-F238E27FC236}">
                    <a16:creationId xmlns:a16="http://schemas.microsoft.com/office/drawing/2014/main" id="{BC44ED03-0F63-A819-9F01-14553C78E583}"/>
                  </a:ext>
                </a:extLst>
              </p:cNvPr>
              <p:cNvSpPr/>
              <p:nvPr/>
            </p:nvSpPr>
            <p:spPr>
              <a:xfrm>
                <a:off x="14832161" y="7379767"/>
                <a:ext cx="349151" cy="180975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Tally</a:t>
                </a:r>
                <a:endParaRPr lang="en-US" sz="975" dirty="0"/>
              </a:p>
            </p:txBody>
          </p:sp>
          <p:sp>
            <p:nvSpPr>
              <p:cNvPr id="139" name="Shape 53">
                <a:extLst>
                  <a:ext uri="{FF2B5EF4-FFF2-40B4-BE49-F238E27FC236}">
                    <a16:creationId xmlns:a16="http://schemas.microsoft.com/office/drawing/2014/main" id="{0A0EE482-B163-3F43-D260-247639C144E7}"/>
                  </a:ext>
                </a:extLst>
              </p:cNvPr>
              <p:cNvSpPr/>
              <p:nvPr/>
            </p:nvSpPr>
            <p:spPr>
              <a:xfrm>
                <a:off x="15293950" y="7324204"/>
                <a:ext cx="1090662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40" name="Text 54">
                <a:extLst>
                  <a:ext uri="{FF2B5EF4-FFF2-40B4-BE49-F238E27FC236}">
                    <a16:creationId xmlns:a16="http://schemas.microsoft.com/office/drawing/2014/main" id="{2BEAE7F9-F5EF-5779-7B05-3C0E2C20EDAE}"/>
                  </a:ext>
                </a:extLst>
              </p:cNvPr>
              <p:cNvSpPr/>
              <p:nvPr/>
            </p:nvSpPr>
            <p:spPr>
              <a:xfrm>
                <a:off x="15416188" y="7379767"/>
                <a:ext cx="922387" cy="180975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Reconciliation</a:t>
                </a:r>
                <a:endParaRPr lang="en-US" sz="975" dirty="0"/>
              </a:p>
            </p:txBody>
          </p:sp>
          <p:sp>
            <p:nvSpPr>
              <p:cNvPr id="141" name="Shape 55">
                <a:extLst>
                  <a:ext uri="{FF2B5EF4-FFF2-40B4-BE49-F238E27FC236}">
                    <a16:creationId xmlns:a16="http://schemas.microsoft.com/office/drawing/2014/main" id="{29665881-5C5B-99F4-7256-349A8D0BD0AA}"/>
                  </a:ext>
                </a:extLst>
              </p:cNvPr>
              <p:cNvSpPr/>
              <p:nvPr/>
            </p:nvSpPr>
            <p:spPr>
              <a:xfrm>
                <a:off x="16451212" y="7324204"/>
                <a:ext cx="780976" cy="254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</p:sp>
          <p:sp>
            <p:nvSpPr>
              <p:cNvPr id="142" name="Text 56">
                <a:extLst>
                  <a:ext uri="{FF2B5EF4-FFF2-40B4-BE49-F238E27FC236}">
                    <a16:creationId xmlns:a16="http://schemas.microsoft.com/office/drawing/2014/main" id="{81870425-BFF3-50A3-2993-6F99DB9E3900}"/>
                  </a:ext>
                </a:extLst>
              </p:cNvPr>
              <p:cNvSpPr/>
              <p:nvPr/>
            </p:nvSpPr>
            <p:spPr>
              <a:xfrm>
                <a:off x="16573450" y="7379767"/>
                <a:ext cx="612701" cy="180975"/>
              </a:xfrm>
              <a:prstGeom prst="rect">
                <a:avLst/>
              </a:prstGeom>
              <a:noFill/>
              <a:ln/>
            </p:spPr>
            <p:txBody>
              <a:bodyPr wrap="none" lIns="25400" tIns="25400" rIns="25400" bIns="25400" rtlCol="0" anchor="ctr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975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Chatbots</a:t>
                </a:r>
                <a:endParaRPr lang="en-US" sz="975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63F76A68-C734-E15E-720F-5E11FAAFDF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41319" y="-374200"/>
            <a:ext cx="2997087" cy="2119604"/>
          </a:xfrm>
          <a:prstGeom prst="rect">
            <a:avLst/>
          </a:prstGeom>
        </p:spPr>
      </p:pic>
      <p:pic>
        <p:nvPicPr>
          <p:cNvPr id="32" name="Image 1" descr="preencoded.png">
            <a:extLst>
              <a:ext uri="{FF2B5EF4-FFF2-40B4-BE49-F238E27FC236}">
                <a16:creationId xmlns:a16="http://schemas.microsoft.com/office/drawing/2014/main" id="{C291090D-64CC-8D46-D9C7-4ABF84E12D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55872" y="362936"/>
            <a:ext cx="4260910" cy="931081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61335431-FA1D-BE0C-52E6-C0728CB9038C}"/>
              </a:ext>
            </a:extLst>
          </p:cNvPr>
          <p:cNvGrpSpPr/>
          <p:nvPr/>
        </p:nvGrpSpPr>
        <p:grpSpPr>
          <a:xfrm>
            <a:off x="785190" y="1749283"/>
            <a:ext cx="16717620" cy="9184608"/>
            <a:chOff x="1028650" y="892941"/>
            <a:chExt cx="16717620" cy="9184608"/>
          </a:xfrm>
        </p:grpSpPr>
        <p:sp>
          <p:nvSpPr>
            <p:cNvPr id="28" name="Text 0">
              <a:extLst>
                <a:ext uri="{FF2B5EF4-FFF2-40B4-BE49-F238E27FC236}">
                  <a16:creationId xmlns:a16="http://schemas.microsoft.com/office/drawing/2014/main" id="{B3DC5256-7607-EDF7-3262-FA96CB06A65D}"/>
                </a:ext>
              </a:extLst>
            </p:cNvPr>
            <p:cNvSpPr/>
            <p:nvPr/>
          </p:nvSpPr>
          <p:spPr>
            <a:xfrm>
              <a:off x="1028650" y="892941"/>
              <a:ext cx="16717620" cy="2682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500" b="1" kern="0" spc="180" dirty="0">
                  <a:solidFill>
                    <a:srgbClr val="1E73B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INDUSTRY PAIN POINTS</a:t>
              </a:r>
              <a:endParaRPr lang="en-US" sz="2500" dirty="0"/>
            </a:p>
          </p:txBody>
        </p:sp>
        <p:sp>
          <p:nvSpPr>
            <p:cNvPr id="29" name="Text 1">
              <a:extLst>
                <a:ext uri="{FF2B5EF4-FFF2-40B4-BE49-F238E27FC236}">
                  <a16:creationId xmlns:a16="http://schemas.microsoft.com/office/drawing/2014/main" id="{F199B368-913D-95D1-0F9A-6B0B263F6F71}"/>
                </a:ext>
              </a:extLst>
            </p:cNvPr>
            <p:cNvSpPr/>
            <p:nvPr/>
          </p:nvSpPr>
          <p:spPr>
            <a:xfrm>
              <a:off x="1028650" y="1682602"/>
              <a:ext cx="16717620" cy="64953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7000"/>
                </a:lnSpc>
                <a:buNone/>
              </a:pPr>
              <a:r>
                <a:rPr lang="en-US" sz="4500" b="1" kern="0" spc="-99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manual layer holding back your entire operation.</a:t>
              </a:r>
              <a:endParaRPr lang="en-US" sz="4500" dirty="0"/>
            </a:p>
          </p:txBody>
        </p:sp>
        <p:sp>
          <p:nvSpPr>
            <p:cNvPr id="31" name="Text 2">
              <a:extLst>
                <a:ext uri="{FF2B5EF4-FFF2-40B4-BE49-F238E27FC236}">
                  <a16:creationId xmlns:a16="http://schemas.microsoft.com/office/drawing/2014/main" id="{A6F2AA9B-A1EB-69D7-B2B9-F00F3410B106}"/>
                </a:ext>
              </a:extLst>
            </p:cNvPr>
            <p:cNvSpPr/>
            <p:nvPr/>
          </p:nvSpPr>
          <p:spPr>
            <a:xfrm>
              <a:off x="1028650" y="1774899"/>
              <a:ext cx="12753975" cy="80580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endParaRPr lang="en-US" sz="1950" dirty="0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99F678F0-71C3-B7AE-7E50-1B94B38CAD73}"/>
                </a:ext>
              </a:extLst>
            </p:cNvPr>
            <p:cNvSpPr/>
            <p:nvPr/>
          </p:nvSpPr>
          <p:spPr>
            <a:xfrm>
              <a:off x="1028650" y="2733104"/>
              <a:ext cx="5321350" cy="2792512"/>
            </a:xfrm>
            <a:prstGeom prst="roundRect">
              <a:avLst>
                <a:gd name="adj" fmla="val 4434"/>
              </a:avLst>
            </a:prstGeom>
            <a:solidFill>
              <a:srgbClr val="FFFFFF"/>
            </a:solidFill>
            <a:ln w="7937">
              <a:solidFill>
                <a:srgbClr val="E2E8F0"/>
              </a:solidFill>
              <a:prstDash val="solid"/>
            </a:ln>
          </p:spPr>
        </p:sp>
        <p:sp>
          <p:nvSpPr>
            <p:cNvPr id="34" name="Text 4">
              <a:extLst>
                <a:ext uri="{FF2B5EF4-FFF2-40B4-BE49-F238E27FC236}">
                  <a16:creationId xmlns:a16="http://schemas.microsoft.com/office/drawing/2014/main" id="{6CC369B7-7324-C746-EA18-A84C7DEE0102}"/>
                </a:ext>
              </a:extLst>
            </p:cNvPr>
            <p:cNvSpPr/>
            <p:nvPr/>
          </p:nvSpPr>
          <p:spPr>
            <a:xfrm>
              <a:off x="1265163" y="2988593"/>
              <a:ext cx="4993774" cy="457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3300" b="1" dirty="0">
                  <a:solidFill>
                    <a:srgbClr val="0F1428">
                      <a:alpha val="85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01</a:t>
              </a:r>
              <a:endParaRPr lang="en-US" sz="3300" dirty="0"/>
            </a:p>
          </p:txBody>
        </p:sp>
        <p:sp>
          <p:nvSpPr>
            <p:cNvPr id="35" name="Shape 5">
              <a:extLst>
                <a:ext uri="{FF2B5EF4-FFF2-40B4-BE49-F238E27FC236}">
                  <a16:creationId xmlns:a16="http://schemas.microsoft.com/office/drawing/2014/main" id="{79A988AF-FB7F-80B6-E5E5-7F946DC69F4E}"/>
                </a:ext>
              </a:extLst>
            </p:cNvPr>
            <p:cNvSpPr/>
            <p:nvPr/>
          </p:nvSpPr>
          <p:spPr>
            <a:xfrm>
              <a:off x="1265163" y="3521893"/>
              <a:ext cx="342801" cy="28525"/>
            </a:xfrm>
            <a:prstGeom prst="roundRect">
              <a:avLst>
                <a:gd name="adj" fmla="val 50001"/>
              </a:avLst>
            </a:prstGeom>
            <a:solidFill>
              <a:srgbClr val="1E73BE"/>
            </a:solidFill>
            <a:ln/>
          </p:spPr>
        </p:sp>
        <p:sp>
          <p:nvSpPr>
            <p:cNvPr id="36" name="Text 6">
              <a:extLst>
                <a:ext uri="{FF2B5EF4-FFF2-40B4-BE49-F238E27FC236}">
                  <a16:creationId xmlns:a16="http://schemas.microsoft.com/office/drawing/2014/main" id="{1D66F708-2548-E93C-3DA6-AA45EDF5FA50}"/>
                </a:ext>
              </a:extLst>
            </p:cNvPr>
            <p:cNvSpPr/>
            <p:nvPr/>
          </p:nvSpPr>
          <p:spPr>
            <a:xfrm>
              <a:off x="1265163" y="3664644"/>
              <a:ext cx="4993774" cy="53320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5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Valuation: 600-plus engagements, all starting with manual PDF extraction</a:t>
              </a:r>
              <a:endParaRPr lang="en-US" sz="1500" dirty="0"/>
            </a:p>
          </p:txBody>
        </p:sp>
        <p:sp>
          <p:nvSpPr>
            <p:cNvPr id="37" name="Text 7">
              <a:extLst>
                <a:ext uri="{FF2B5EF4-FFF2-40B4-BE49-F238E27FC236}">
                  <a16:creationId xmlns:a16="http://schemas.microsoft.com/office/drawing/2014/main" id="{211F3747-FDC2-7310-2F3B-2EE71FB6C78C}"/>
                </a:ext>
              </a:extLst>
            </p:cNvPr>
            <p:cNvSpPr/>
            <p:nvPr/>
          </p:nvSpPr>
          <p:spPr>
            <a:xfrm>
              <a:off x="1151816" y="4508748"/>
              <a:ext cx="5037872" cy="7994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Every valuation begins by pulling data from PDF statements one by one</a:t>
              </a:r>
              <a:endParaRPr lang="en-US" sz="1275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Analysis cannot start until extraction is complete</a:t>
              </a:r>
              <a:endParaRPr lang="en-US" sz="1275" dirty="0"/>
            </a:p>
          </p:txBody>
        </p:sp>
        <p:sp>
          <p:nvSpPr>
            <p:cNvPr id="38" name="Shape 8">
              <a:extLst>
                <a:ext uri="{FF2B5EF4-FFF2-40B4-BE49-F238E27FC236}">
                  <a16:creationId xmlns:a16="http://schemas.microsoft.com/office/drawing/2014/main" id="{9A7CBC5E-9135-4F0D-06B2-51B890E0120F}"/>
                </a:ext>
              </a:extLst>
            </p:cNvPr>
            <p:cNvSpPr/>
            <p:nvPr/>
          </p:nvSpPr>
          <p:spPr>
            <a:xfrm>
              <a:off x="6483325" y="2733104"/>
              <a:ext cx="5321350" cy="2792512"/>
            </a:xfrm>
            <a:prstGeom prst="roundRect">
              <a:avLst>
                <a:gd name="adj" fmla="val 4434"/>
              </a:avLst>
            </a:prstGeom>
            <a:solidFill>
              <a:srgbClr val="FFFFFF"/>
            </a:solidFill>
            <a:ln w="7937">
              <a:solidFill>
                <a:srgbClr val="E2E8F0"/>
              </a:solidFill>
              <a:prstDash val="solid"/>
            </a:ln>
          </p:spPr>
        </p:sp>
        <p:sp>
          <p:nvSpPr>
            <p:cNvPr id="39" name="Text 9">
              <a:extLst>
                <a:ext uri="{FF2B5EF4-FFF2-40B4-BE49-F238E27FC236}">
                  <a16:creationId xmlns:a16="http://schemas.microsoft.com/office/drawing/2014/main" id="{4C080E53-9B94-2F2D-9020-9041BCD04D36}"/>
                </a:ext>
              </a:extLst>
            </p:cNvPr>
            <p:cNvSpPr/>
            <p:nvPr/>
          </p:nvSpPr>
          <p:spPr>
            <a:xfrm>
              <a:off x="6719838" y="2988593"/>
              <a:ext cx="4993774" cy="457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3300" b="1" dirty="0">
                  <a:solidFill>
                    <a:srgbClr val="0F1428">
                      <a:alpha val="85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02</a:t>
              </a:r>
              <a:endParaRPr lang="en-US" sz="3300" dirty="0"/>
            </a:p>
          </p:txBody>
        </p:sp>
        <p:sp>
          <p:nvSpPr>
            <p:cNvPr id="40" name="Shape 10">
              <a:extLst>
                <a:ext uri="{FF2B5EF4-FFF2-40B4-BE49-F238E27FC236}">
                  <a16:creationId xmlns:a16="http://schemas.microsoft.com/office/drawing/2014/main" id="{44032E8C-14B2-745B-3FCC-B603D8448313}"/>
                </a:ext>
              </a:extLst>
            </p:cNvPr>
            <p:cNvSpPr/>
            <p:nvPr/>
          </p:nvSpPr>
          <p:spPr>
            <a:xfrm>
              <a:off x="6719838" y="3521893"/>
              <a:ext cx="342801" cy="28525"/>
            </a:xfrm>
            <a:prstGeom prst="roundRect">
              <a:avLst>
                <a:gd name="adj" fmla="val 50001"/>
              </a:avLst>
            </a:prstGeom>
            <a:solidFill>
              <a:srgbClr val="1E73BE"/>
            </a:solidFill>
            <a:ln/>
          </p:spPr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4154F041-7A02-D78C-9246-95BEB7842F11}"/>
                </a:ext>
              </a:extLst>
            </p:cNvPr>
            <p:cNvSpPr/>
            <p:nvPr/>
          </p:nvSpPr>
          <p:spPr>
            <a:xfrm>
              <a:off x="6719838" y="3664644"/>
              <a:ext cx="4993774" cy="53320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5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M&amp;A: due diligence document coordination through email chains</a:t>
              </a:r>
              <a:endParaRPr lang="en-US" sz="1500" dirty="0"/>
            </a:p>
          </p:txBody>
        </p:sp>
        <p:sp>
          <p:nvSpPr>
            <p:cNvPr id="42" name="Text 12">
              <a:extLst>
                <a:ext uri="{FF2B5EF4-FFF2-40B4-BE49-F238E27FC236}">
                  <a16:creationId xmlns:a16="http://schemas.microsoft.com/office/drawing/2014/main" id="{95D7836B-BBD4-33E0-2698-0CFEF3AD3F15}"/>
                </a:ext>
              </a:extLst>
            </p:cNvPr>
            <p:cNvSpPr/>
            <p:nvPr/>
          </p:nvSpPr>
          <p:spPr>
            <a:xfrm>
              <a:off x="6606490" y="4273972"/>
              <a:ext cx="5037872" cy="10342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Hundreds of documents chased across inboxes with no live tracking</a:t>
              </a:r>
              <a:endParaRPr lang="en-US" sz="1275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single view of what is outstanding and what has been received</a:t>
              </a:r>
              <a:endParaRPr lang="en-US" sz="1275" dirty="0"/>
            </a:p>
          </p:txBody>
        </p:sp>
        <p:sp>
          <p:nvSpPr>
            <p:cNvPr id="43" name="Shape 13">
              <a:extLst>
                <a:ext uri="{FF2B5EF4-FFF2-40B4-BE49-F238E27FC236}">
                  <a16:creationId xmlns:a16="http://schemas.microsoft.com/office/drawing/2014/main" id="{6F08095B-58C9-A953-A2CD-883A30EB964D}"/>
                </a:ext>
              </a:extLst>
            </p:cNvPr>
            <p:cNvSpPr/>
            <p:nvPr/>
          </p:nvSpPr>
          <p:spPr>
            <a:xfrm>
              <a:off x="11937999" y="2733104"/>
              <a:ext cx="5321350" cy="2792512"/>
            </a:xfrm>
            <a:prstGeom prst="roundRect">
              <a:avLst>
                <a:gd name="adj" fmla="val 4434"/>
              </a:avLst>
            </a:prstGeom>
            <a:solidFill>
              <a:srgbClr val="FFFFFF"/>
            </a:solidFill>
            <a:ln w="7937">
              <a:solidFill>
                <a:srgbClr val="E2E8F0"/>
              </a:solidFill>
              <a:prstDash val="solid"/>
            </a:ln>
          </p:spPr>
        </p:sp>
        <p:sp>
          <p:nvSpPr>
            <p:cNvPr id="44" name="Text 14">
              <a:extLst>
                <a:ext uri="{FF2B5EF4-FFF2-40B4-BE49-F238E27FC236}">
                  <a16:creationId xmlns:a16="http://schemas.microsoft.com/office/drawing/2014/main" id="{84D89D7D-560C-D2D3-50C0-B216E6C11136}"/>
                </a:ext>
              </a:extLst>
            </p:cNvPr>
            <p:cNvSpPr/>
            <p:nvPr/>
          </p:nvSpPr>
          <p:spPr>
            <a:xfrm>
              <a:off x="12174513" y="2988593"/>
              <a:ext cx="4993774" cy="457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3300" b="1" dirty="0">
                  <a:solidFill>
                    <a:srgbClr val="0F1428">
                      <a:alpha val="85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03</a:t>
              </a:r>
              <a:endParaRPr lang="en-US" sz="3300" dirty="0"/>
            </a:p>
          </p:txBody>
        </p:sp>
        <p:sp>
          <p:nvSpPr>
            <p:cNvPr id="45" name="Shape 15">
              <a:extLst>
                <a:ext uri="{FF2B5EF4-FFF2-40B4-BE49-F238E27FC236}">
                  <a16:creationId xmlns:a16="http://schemas.microsoft.com/office/drawing/2014/main" id="{05A57533-2B59-7933-E8CF-BA11985ED2D5}"/>
                </a:ext>
              </a:extLst>
            </p:cNvPr>
            <p:cNvSpPr/>
            <p:nvPr/>
          </p:nvSpPr>
          <p:spPr>
            <a:xfrm>
              <a:off x="12174513" y="3521893"/>
              <a:ext cx="342801" cy="28525"/>
            </a:xfrm>
            <a:prstGeom prst="roundRect">
              <a:avLst>
                <a:gd name="adj" fmla="val 50001"/>
              </a:avLst>
            </a:prstGeom>
            <a:solidFill>
              <a:srgbClr val="1E73BE"/>
            </a:solidFill>
            <a:ln/>
          </p:spPr>
        </p:sp>
        <p:sp>
          <p:nvSpPr>
            <p:cNvPr id="46" name="Text 16">
              <a:extLst>
                <a:ext uri="{FF2B5EF4-FFF2-40B4-BE49-F238E27FC236}">
                  <a16:creationId xmlns:a16="http://schemas.microsoft.com/office/drawing/2014/main" id="{4F9854F7-0208-A261-1E1C-C2F1E726AFC6}"/>
                </a:ext>
              </a:extLst>
            </p:cNvPr>
            <p:cNvSpPr/>
            <p:nvPr/>
          </p:nvSpPr>
          <p:spPr>
            <a:xfrm>
              <a:off x="12174513" y="3664644"/>
              <a:ext cx="4993774" cy="53320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5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Accounting: the same figures entered into eleven different platforms</a:t>
              </a:r>
              <a:endParaRPr lang="en-US" sz="1500" dirty="0"/>
            </a:p>
          </p:txBody>
        </p:sp>
        <p:sp>
          <p:nvSpPr>
            <p:cNvPr id="47" name="Text 17">
              <a:extLst>
                <a:ext uri="{FF2B5EF4-FFF2-40B4-BE49-F238E27FC236}">
                  <a16:creationId xmlns:a16="http://schemas.microsoft.com/office/drawing/2014/main" id="{39016D6E-D0F7-2EE5-7925-CEE3B392A2E6}"/>
                </a:ext>
              </a:extLst>
            </p:cNvPr>
            <p:cNvSpPr/>
            <p:nvPr/>
          </p:nvSpPr>
          <p:spPr>
            <a:xfrm>
              <a:off x="12061165" y="4508748"/>
              <a:ext cx="5037872" cy="7994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Ind AS, IFRS, and US GAAP data re-keyed separately across every tool</a:t>
              </a:r>
              <a:endParaRPr lang="en-US" sz="1275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single source of truth, errors compound across platforms</a:t>
              </a:r>
              <a:endParaRPr lang="en-US" sz="1275" dirty="0"/>
            </a:p>
          </p:txBody>
        </p:sp>
        <p:sp>
          <p:nvSpPr>
            <p:cNvPr id="48" name="Shape 18">
              <a:extLst>
                <a:ext uri="{FF2B5EF4-FFF2-40B4-BE49-F238E27FC236}">
                  <a16:creationId xmlns:a16="http://schemas.microsoft.com/office/drawing/2014/main" id="{B640CF8F-E87F-F64F-B590-C0D4C9AF87E8}"/>
                </a:ext>
              </a:extLst>
            </p:cNvPr>
            <p:cNvSpPr/>
            <p:nvPr/>
          </p:nvSpPr>
          <p:spPr>
            <a:xfrm>
              <a:off x="1028650" y="5658941"/>
              <a:ext cx="6076900" cy="2322959"/>
            </a:xfrm>
            <a:prstGeom prst="roundRect">
              <a:avLst>
                <a:gd name="adj" fmla="val 5330"/>
              </a:avLst>
            </a:prstGeom>
            <a:solidFill>
              <a:srgbClr val="FFFFFF"/>
            </a:solidFill>
            <a:ln w="7937">
              <a:solidFill>
                <a:srgbClr val="E2E8F0"/>
              </a:solidFill>
              <a:prstDash val="solid"/>
            </a:ln>
          </p:spPr>
        </p:sp>
        <p:sp>
          <p:nvSpPr>
            <p:cNvPr id="49" name="Text 19">
              <a:extLst>
                <a:ext uri="{FF2B5EF4-FFF2-40B4-BE49-F238E27FC236}">
                  <a16:creationId xmlns:a16="http://schemas.microsoft.com/office/drawing/2014/main" id="{38480306-DEAE-F657-0A6F-0DFEC84BC2A5}"/>
                </a:ext>
              </a:extLst>
            </p:cNvPr>
            <p:cNvSpPr/>
            <p:nvPr/>
          </p:nvSpPr>
          <p:spPr>
            <a:xfrm>
              <a:off x="1265163" y="5914430"/>
              <a:ext cx="5771991" cy="457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3300" b="1" dirty="0">
                  <a:solidFill>
                    <a:srgbClr val="0F1428">
                      <a:alpha val="85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04</a:t>
              </a:r>
              <a:endParaRPr lang="en-US" sz="3300" dirty="0"/>
            </a:p>
          </p:txBody>
        </p:sp>
        <p:sp>
          <p:nvSpPr>
            <p:cNvPr id="50" name="Shape 20">
              <a:extLst>
                <a:ext uri="{FF2B5EF4-FFF2-40B4-BE49-F238E27FC236}">
                  <a16:creationId xmlns:a16="http://schemas.microsoft.com/office/drawing/2014/main" id="{7333A7F3-546C-41A0-0978-D0223BDF6064}"/>
                </a:ext>
              </a:extLst>
            </p:cNvPr>
            <p:cNvSpPr/>
            <p:nvPr/>
          </p:nvSpPr>
          <p:spPr>
            <a:xfrm>
              <a:off x="1265163" y="6447730"/>
              <a:ext cx="342801" cy="28525"/>
            </a:xfrm>
            <a:prstGeom prst="roundRect">
              <a:avLst>
                <a:gd name="adj" fmla="val 50001"/>
              </a:avLst>
            </a:prstGeom>
            <a:solidFill>
              <a:srgbClr val="1E73BE"/>
            </a:solidFill>
            <a:ln/>
          </p:spPr>
        </p:sp>
        <p:sp>
          <p:nvSpPr>
            <p:cNvPr id="51" name="Text 21">
              <a:extLst>
                <a:ext uri="{FF2B5EF4-FFF2-40B4-BE49-F238E27FC236}">
                  <a16:creationId xmlns:a16="http://schemas.microsoft.com/office/drawing/2014/main" id="{B11C51E6-F3AF-DA57-CB85-53961005BFF8}"/>
                </a:ext>
              </a:extLst>
            </p:cNvPr>
            <p:cNvSpPr/>
            <p:nvPr/>
          </p:nvSpPr>
          <p:spPr>
            <a:xfrm>
              <a:off x="1265163" y="6590481"/>
              <a:ext cx="5771991" cy="53320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5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Compliance: ROC, MCA, and secretarial deadlines tracked in spreadsheets</a:t>
              </a:r>
              <a:endParaRPr lang="en-US" sz="1500" dirty="0"/>
            </a:p>
          </p:txBody>
        </p:sp>
        <p:sp>
          <p:nvSpPr>
            <p:cNvPr id="52" name="Text 22">
              <a:extLst>
                <a:ext uri="{FF2B5EF4-FFF2-40B4-BE49-F238E27FC236}">
                  <a16:creationId xmlns:a16="http://schemas.microsoft.com/office/drawing/2014/main" id="{845F83BD-836B-12B8-C9ED-CB5E2C86DA2C}"/>
                </a:ext>
              </a:extLst>
            </p:cNvPr>
            <p:cNvSpPr/>
            <p:nvPr/>
          </p:nvSpPr>
          <p:spPr>
            <a:xfrm>
              <a:off x="1151816" y="7199808"/>
              <a:ext cx="5793422" cy="56470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Filing calendars managed manually across the full entity portfolio</a:t>
              </a:r>
              <a:endParaRPr lang="en-US" sz="1275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missed deadline means a fine and a difficult client conversation</a:t>
              </a:r>
              <a:endParaRPr lang="en-US" sz="1275" dirty="0"/>
            </a:p>
          </p:txBody>
        </p:sp>
        <p:sp>
          <p:nvSpPr>
            <p:cNvPr id="53" name="Shape 23">
              <a:extLst>
                <a:ext uri="{FF2B5EF4-FFF2-40B4-BE49-F238E27FC236}">
                  <a16:creationId xmlns:a16="http://schemas.microsoft.com/office/drawing/2014/main" id="{32F05435-3705-764D-DF17-3ECCD5B9B8D1}"/>
                </a:ext>
              </a:extLst>
            </p:cNvPr>
            <p:cNvSpPr/>
            <p:nvPr/>
          </p:nvSpPr>
          <p:spPr>
            <a:xfrm>
              <a:off x="7238876" y="5658941"/>
              <a:ext cx="6077024" cy="2322959"/>
            </a:xfrm>
            <a:prstGeom prst="roundRect">
              <a:avLst>
                <a:gd name="adj" fmla="val 5330"/>
              </a:avLst>
            </a:prstGeom>
            <a:solidFill>
              <a:srgbClr val="FFFFFF"/>
            </a:solidFill>
            <a:ln w="7937">
              <a:solidFill>
                <a:srgbClr val="E2E8F0"/>
              </a:solidFill>
              <a:prstDash val="solid"/>
            </a:ln>
          </p:spPr>
        </p:sp>
        <p:sp>
          <p:nvSpPr>
            <p:cNvPr id="54" name="Text 24">
              <a:extLst>
                <a:ext uri="{FF2B5EF4-FFF2-40B4-BE49-F238E27FC236}">
                  <a16:creationId xmlns:a16="http://schemas.microsoft.com/office/drawing/2014/main" id="{FAC83840-3BEA-AB4A-3E8C-515D25B63B28}"/>
                </a:ext>
              </a:extLst>
            </p:cNvPr>
            <p:cNvSpPr/>
            <p:nvPr/>
          </p:nvSpPr>
          <p:spPr>
            <a:xfrm>
              <a:off x="7475388" y="5914430"/>
              <a:ext cx="5772119" cy="457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3300" b="1" dirty="0">
                  <a:solidFill>
                    <a:srgbClr val="0F1428">
                      <a:alpha val="85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05</a:t>
              </a:r>
              <a:endParaRPr lang="en-US" sz="3300" dirty="0"/>
            </a:p>
          </p:txBody>
        </p:sp>
        <p:sp>
          <p:nvSpPr>
            <p:cNvPr id="55" name="Shape 25">
              <a:extLst>
                <a:ext uri="{FF2B5EF4-FFF2-40B4-BE49-F238E27FC236}">
                  <a16:creationId xmlns:a16="http://schemas.microsoft.com/office/drawing/2014/main" id="{5E3C9F09-0B6F-7A07-C7D7-5D0D6761F5DD}"/>
                </a:ext>
              </a:extLst>
            </p:cNvPr>
            <p:cNvSpPr/>
            <p:nvPr/>
          </p:nvSpPr>
          <p:spPr>
            <a:xfrm>
              <a:off x="7475388" y="6447730"/>
              <a:ext cx="342801" cy="28525"/>
            </a:xfrm>
            <a:prstGeom prst="roundRect">
              <a:avLst>
                <a:gd name="adj" fmla="val 50001"/>
              </a:avLst>
            </a:prstGeom>
            <a:solidFill>
              <a:srgbClr val="1E73BE"/>
            </a:solidFill>
            <a:ln/>
          </p:spPr>
        </p:sp>
        <p:sp>
          <p:nvSpPr>
            <p:cNvPr id="56" name="Text 26">
              <a:extLst>
                <a:ext uri="{FF2B5EF4-FFF2-40B4-BE49-F238E27FC236}">
                  <a16:creationId xmlns:a16="http://schemas.microsoft.com/office/drawing/2014/main" id="{273D59D2-8065-8EFA-8A72-AE90520496B6}"/>
                </a:ext>
              </a:extLst>
            </p:cNvPr>
            <p:cNvSpPr/>
            <p:nvPr/>
          </p:nvSpPr>
          <p:spPr>
            <a:xfrm>
              <a:off x="7475388" y="6590481"/>
              <a:ext cx="5772119" cy="53320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5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Reporting: leadership and clients receive static PDFs, not live data</a:t>
              </a:r>
              <a:endParaRPr lang="en-US" sz="1500" dirty="0"/>
            </a:p>
          </p:txBody>
        </p:sp>
        <p:sp>
          <p:nvSpPr>
            <p:cNvPr id="57" name="Text 27">
              <a:extLst>
                <a:ext uri="{FF2B5EF4-FFF2-40B4-BE49-F238E27FC236}">
                  <a16:creationId xmlns:a16="http://schemas.microsoft.com/office/drawing/2014/main" id="{397DBB51-23E5-B2FA-6C0D-A13443C89240}"/>
                </a:ext>
              </a:extLst>
            </p:cNvPr>
            <p:cNvSpPr/>
            <p:nvPr/>
          </p:nvSpPr>
          <p:spPr>
            <a:xfrm>
              <a:off x="7362041" y="7199808"/>
              <a:ext cx="5793546" cy="56470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real-time visibility across clients, entities, or filing progress</a:t>
              </a:r>
              <a:endParaRPr lang="en-US" sz="1275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Status lives in inboxes and shared drives, not a single dashboard</a:t>
              </a:r>
              <a:endParaRPr lang="en-US" sz="1275" dirty="0"/>
            </a:p>
          </p:txBody>
        </p:sp>
        <p:sp>
          <p:nvSpPr>
            <p:cNvPr id="58" name="Shape 28">
              <a:extLst>
                <a:ext uri="{FF2B5EF4-FFF2-40B4-BE49-F238E27FC236}">
                  <a16:creationId xmlns:a16="http://schemas.microsoft.com/office/drawing/2014/main" id="{D4F59074-6174-0A71-F623-55C3A56CD411}"/>
                </a:ext>
              </a:extLst>
            </p:cNvPr>
            <p:cNvSpPr/>
            <p:nvPr/>
          </p:nvSpPr>
          <p:spPr>
            <a:xfrm>
              <a:off x="1028650" y="9720461"/>
              <a:ext cx="16230699" cy="9525"/>
            </a:xfrm>
            <a:prstGeom prst="rect">
              <a:avLst/>
            </a:prstGeom>
            <a:solidFill>
              <a:srgbClr val="E2E8F0"/>
            </a:solidFill>
            <a:ln/>
          </p:spPr>
        </p:sp>
        <p:pic>
          <p:nvPicPr>
            <p:cNvPr id="59" name="Image 0" descr="preencoded.png">
              <a:extLst>
                <a:ext uri="{FF2B5EF4-FFF2-40B4-BE49-F238E27FC236}">
                  <a16:creationId xmlns:a16="http://schemas.microsoft.com/office/drawing/2014/main" id="{A7AD0BAF-5A75-2F3D-E68C-8BC9BD7D9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1028650" y="9841011"/>
              <a:ext cx="269255" cy="190500"/>
            </a:xfrm>
            <a:prstGeom prst="rect">
              <a:avLst/>
            </a:prstGeom>
          </p:spPr>
        </p:pic>
        <p:sp>
          <p:nvSpPr>
            <p:cNvPr id="60" name="Text 29">
              <a:extLst>
                <a:ext uri="{FF2B5EF4-FFF2-40B4-BE49-F238E27FC236}">
                  <a16:creationId xmlns:a16="http://schemas.microsoft.com/office/drawing/2014/main" id="{210A0AB6-D3A5-2AFA-C104-C6D2893D301B}"/>
                </a:ext>
              </a:extLst>
            </p:cNvPr>
            <p:cNvSpPr/>
            <p:nvPr/>
          </p:nvSpPr>
          <p:spPr>
            <a:xfrm>
              <a:off x="16315779" y="9833074"/>
              <a:ext cx="1019770" cy="2444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350" dirty="0">
                  <a:solidFill>
                    <a:srgbClr val="94A3B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agilitytech.ai</a:t>
              </a:r>
              <a:endParaRPr lang="en-US" sz="1350" dirty="0"/>
            </a:p>
          </p:txBody>
        </p:sp>
      </p:grpSp>
      <p:sp>
        <p:nvSpPr>
          <p:cNvPr id="62" name="Shape 23">
            <a:extLst>
              <a:ext uri="{FF2B5EF4-FFF2-40B4-BE49-F238E27FC236}">
                <a16:creationId xmlns:a16="http://schemas.microsoft.com/office/drawing/2014/main" id="{A3E43304-310D-A32F-47F3-AC4D4EF8E130}"/>
              </a:ext>
            </a:extLst>
          </p:cNvPr>
          <p:cNvSpPr/>
          <p:nvPr/>
        </p:nvSpPr>
        <p:spPr>
          <a:xfrm>
            <a:off x="1028650" y="9720461"/>
            <a:ext cx="16230699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43572" y="1902495"/>
            <a:ext cx="16717620" cy="26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kern="0" spc="180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COVERAGE</a:t>
            </a:r>
            <a:endParaRPr lang="en-US" sz="2500" dirty="0"/>
          </a:p>
        </p:txBody>
      </p:sp>
      <p:sp>
        <p:nvSpPr>
          <p:cNvPr id="5" name="Text 1"/>
          <p:cNvSpPr/>
          <p:nvPr/>
        </p:nvSpPr>
        <p:spPr>
          <a:xfrm>
            <a:off x="516490" y="2600050"/>
            <a:ext cx="16717620" cy="588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4200" b="1" kern="0" spc="-89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across every service line you run.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1028650" y="2170782"/>
            <a:ext cx="13735050" cy="362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B8755F3-3556-66D7-28E1-12B547261421}"/>
              </a:ext>
            </a:extLst>
          </p:cNvPr>
          <p:cNvGrpSpPr/>
          <p:nvPr/>
        </p:nvGrpSpPr>
        <p:grpSpPr>
          <a:xfrm>
            <a:off x="286539" y="3905361"/>
            <a:ext cx="17211048" cy="5208747"/>
            <a:chOff x="1028650" y="2667000"/>
            <a:chExt cx="16230699" cy="4309194"/>
          </a:xfrm>
        </p:grpSpPr>
        <p:sp>
          <p:nvSpPr>
            <p:cNvPr id="7" name="Shape 3"/>
            <p:cNvSpPr/>
            <p:nvPr/>
          </p:nvSpPr>
          <p:spPr>
            <a:xfrm>
              <a:off x="1028650" y="2667000"/>
              <a:ext cx="5321350" cy="2087934"/>
            </a:xfrm>
            <a:prstGeom prst="roundRect">
              <a:avLst>
                <a:gd name="adj" fmla="val 5474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0630" y="2796835"/>
              <a:ext cx="366197" cy="366196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1100630" y="3385322"/>
              <a:ext cx="5072209" cy="2603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Valuation</a:t>
              </a:r>
              <a:endParaRPr lang="en-US" sz="150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1107073" y="3659063"/>
              <a:ext cx="5120689" cy="9165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PDF extraction from financial statements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Automatic model population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Structured report output</a:t>
              </a:r>
              <a:endParaRPr lang="en-US" sz="1350" dirty="0"/>
            </a:p>
          </p:txBody>
        </p:sp>
        <p:sp>
          <p:nvSpPr>
            <p:cNvPr id="12" name="Shape 7"/>
            <p:cNvSpPr/>
            <p:nvPr/>
          </p:nvSpPr>
          <p:spPr>
            <a:xfrm>
              <a:off x="6483325" y="2667000"/>
              <a:ext cx="5321350" cy="2087934"/>
            </a:xfrm>
            <a:prstGeom prst="roundRect">
              <a:avLst>
                <a:gd name="adj" fmla="val 5474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4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5788" y="2796835"/>
              <a:ext cx="399975" cy="399975"/>
            </a:xfrm>
            <a:prstGeom prst="rect">
              <a:avLst/>
            </a:prstGeom>
          </p:spPr>
        </p:pic>
        <p:sp>
          <p:nvSpPr>
            <p:cNvPr id="15" name="Text 9"/>
            <p:cNvSpPr/>
            <p:nvPr/>
          </p:nvSpPr>
          <p:spPr>
            <a:xfrm>
              <a:off x="6681763" y="3341563"/>
              <a:ext cx="5072209" cy="2603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M&amp;A and Due Diligence</a:t>
              </a:r>
              <a:endParaRPr lang="en-US" sz="1500" dirty="0"/>
            </a:p>
          </p:txBody>
        </p:sp>
        <p:sp>
          <p:nvSpPr>
            <p:cNvPr id="16" name="Text 10"/>
            <p:cNvSpPr/>
            <p:nvPr/>
          </p:nvSpPr>
          <p:spPr>
            <a:xfrm>
              <a:off x="6561748" y="3659063"/>
              <a:ext cx="5120689" cy="9165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Automated document request portal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Live tracking across all target submissions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DD checklist management</a:t>
              </a:r>
              <a:endParaRPr lang="en-US" sz="1350" dirty="0"/>
            </a:p>
          </p:txBody>
        </p:sp>
        <p:sp>
          <p:nvSpPr>
            <p:cNvPr id="17" name="Shape 11"/>
            <p:cNvSpPr/>
            <p:nvPr/>
          </p:nvSpPr>
          <p:spPr>
            <a:xfrm>
              <a:off x="11937999" y="2667000"/>
              <a:ext cx="5321350" cy="2087934"/>
            </a:xfrm>
            <a:prstGeom prst="roundRect">
              <a:avLst>
                <a:gd name="adj" fmla="val 5474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9" name="Image 4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98579" y="2815872"/>
              <a:ext cx="361900" cy="361899"/>
            </a:xfrm>
            <a:prstGeom prst="rect">
              <a:avLst/>
            </a:prstGeom>
          </p:spPr>
        </p:pic>
        <p:sp>
          <p:nvSpPr>
            <p:cNvPr id="20" name="Text 13"/>
            <p:cNvSpPr/>
            <p:nvPr/>
          </p:nvSpPr>
          <p:spPr>
            <a:xfrm>
              <a:off x="12136437" y="3341563"/>
              <a:ext cx="5072209" cy="2603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Accounting and Bookkeeping</a:t>
              </a:r>
              <a:endParaRPr lang="en-US" sz="1500" dirty="0"/>
            </a:p>
          </p:txBody>
        </p:sp>
        <p:sp>
          <p:nvSpPr>
            <p:cNvPr id="21" name="Text 14"/>
            <p:cNvSpPr/>
            <p:nvPr/>
          </p:nvSpPr>
          <p:spPr>
            <a:xfrm>
              <a:off x="12016422" y="3659063"/>
              <a:ext cx="5120689" cy="9165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 entry elimination across 11-plus platforms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Multi-standard reconciliation (Ind AS, IFRS, US GAAP)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Automatic exception flagging</a:t>
              </a:r>
              <a:endParaRPr lang="en-US" sz="1350" dirty="0"/>
            </a:p>
          </p:txBody>
        </p:sp>
        <p:sp>
          <p:nvSpPr>
            <p:cNvPr id="22" name="Shape 15"/>
            <p:cNvSpPr/>
            <p:nvPr/>
          </p:nvSpPr>
          <p:spPr>
            <a:xfrm>
              <a:off x="1028650" y="4888260"/>
              <a:ext cx="6029275" cy="2087934"/>
            </a:xfrm>
            <a:prstGeom prst="roundRect">
              <a:avLst>
                <a:gd name="adj" fmla="val 5474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24" name="Image 5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7073" y="4973692"/>
              <a:ext cx="465088" cy="465087"/>
            </a:xfrm>
            <a:prstGeom prst="rect">
              <a:avLst/>
            </a:prstGeom>
          </p:spPr>
        </p:pic>
        <p:sp>
          <p:nvSpPr>
            <p:cNvPr id="25" name="Text 17"/>
            <p:cNvSpPr/>
            <p:nvPr/>
          </p:nvSpPr>
          <p:spPr>
            <a:xfrm>
              <a:off x="1227088" y="5562823"/>
              <a:ext cx="5801372" cy="2603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Compliance and Secretarial</a:t>
              </a:r>
              <a:endParaRPr lang="en-US" sz="1500" dirty="0"/>
            </a:p>
          </p:txBody>
        </p:sp>
        <p:sp>
          <p:nvSpPr>
            <p:cNvPr id="26" name="Text 18"/>
            <p:cNvSpPr/>
            <p:nvPr/>
          </p:nvSpPr>
          <p:spPr>
            <a:xfrm>
              <a:off x="1107073" y="5880323"/>
              <a:ext cx="5828615" cy="9165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Automated ROC, MCA, and event-based filing calendar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Deadline alerts across your entity portfolio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KYC collection and tracking</a:t>
              </a:r>
              <a:endParaRPr lang="en-US" sz="1350" dirty="0"/>
            </a:p>
          </p:txBody>
        </p:sp>
        <p:sp>
          <p:nvSpPr>
            <p:cNvPr id="27" name="Shape 19"/>
            <p:cNvSpPr/>
            <p:nvPr/>
          </p:nvSpPr>
          <p:spPr>
            <a:xfrm>
              <a:off x="7191251" y="4888260"/>
              <a:ext cx="6029399" cy="2087934"/>
            </a:xfrm>
            <a:prstGeom prst="roundRect">
              <a:avLst>
                <a:gd name="adj" fmla="val 5474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29" name="Image 6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09743" y="4899687"/>
              <a:ext cx="399975" cy="399975"/>
            </a:xfrm>
            <a:prstGeom prst="rect">
              <a:avLst/>
            </a:prstGeom>
          </p:spPr>
        </p:pic>
        <p:sp>
          <p:nvSpPr>
            <p:cNvPr id="30" name="Text 21"/>
            <p:cNvSpPr/>
            <p:nvPr/>
          </p:nvSpPr>
          <p:spPr>
            <a:xfrm>
              <a:off x="7389688" y="5562823"/>
              <a:ext cx="5801500" cy="2603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Reporting and Client MIS</a:t>
              </a:r>
              <a:endParaRPr lang="en-US" sz="1500" dirty="0"/>
            </a:p>
          </p:txBody>
        </p:sp>
        <p:sp>
          <p:nvSpPr>
            <p:cNvPr id="31" name="Text 22"/>
            <p:cNvSpPr/>
            <p:nvPr/>
          </p:nvSpPr>
          <p:spPr>
            <a:xfrm>
              <a:off x="7269673" y="5880323"/>
              <a:ext cx="5828739" cy="9165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Live Power BI, Tableau, and Looker dashboards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Client-facing portals replacing static PDFs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Real-time MIS for retainer clients</a:t>
              </a:r>
              <a:endParaRPr lang="en-US" sz="1350" dirty="0"/>
            </a:p>
          </p:txBody>
        </p:sp>
      </p:grpSp>
      <p:sp>
        <p:nvSpPr>
          <p:cNvPr id="32" name="Shape 23"/>
          <p:cNvSpPr/>
          <p:nvPr/>
        </p:nvSpPr>
        <p:spPr>
          <a:xfrm>
            <a:off x="1028650" y="9720461"/>
            <a:ext cx="16230699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4"/>
          <p:cNvSpPr/>
          <p:nvPr/>
        </p:nvSpPr>
        <p:spPr>
          <a:xfrm>
            <a:off x="16315779" y="9833074"/>
            <a:ext cx="1019770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3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5B71700-28B4-9701-5FC9-755C5C91534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-241319" y="-374200"/>
            <a:ext cx="2997087" cy="2119604"/>
          </a:xfrm>
          <a:prstGeom prst="rect">
            <a:avLst/>
          </a:prstGeom>
        </p:spPr>
      </p:pic>
      <p:pic>
        <p:nvPicPr>
          <p:cNvPr id="35" name="Image 1" descr="preencoded.png">
            <a:extLst>
              <a:ext uri="{FF2B5EF4-FFF2-40B4-BE49-F238E27FC236}">
                <a16:creationId xmlns:a16="http://schemas.microsoft.com/office/drawing/2014/main" id="{86A00A5B-26FF-DE95-6FD6-3B86EDD952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3755872" y="362936"/>
            <a:ext cx="4260910" cy="9310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360" y="2027716"/>
            <a:ext cx="16717620" cy="26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kern="0" spc="180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BUILD FOR YOU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39360" y="2670027"/>
            <a:ext cx="16717620" cy="12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4500" b="1" kern="0" spc="-99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automation solutions built for compliance and advisory teams.</a:t>
            </a:r>
            <a:endParaRPr lang="en-US" sz="45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9B1DA6-8B85-62A6-0A4B-916D7A0BAF7E}"/>
              </a:ext>
            </a:extLst>
          </p:cNvPr>
          <p:cNvGrpSpPr/>
          <p:nvPr/>
        </p:nvGrpSpPr>
        <p:grpSpPr>
          <a:xfrm>
            <a:off x="386192" y="4283288"/>
            <a:ext cx="17515614" cy="4703474"/>
            <a:chOff x="1028650" y="2424410"/>
            <a:chExt cx="16230699" cy="4477743"/>
          </a:xfrm>
        </p:grpSpPr>
        <p:sp>
          <p:nvSpPr>
            <p:cNvPr id="4" name="Shape 2"/>
            <p:cNvSpPr/>
            <p:nvPr/>
          </p:nvSpPr>
          <p:spPr>
            <a:xfrm>
              <a:off x="1028650" y="2424410"/>
              <a:ext cx="5308699" cy="2162721"/>
            </a:xfrm>
            <a:prstGeom prst="roundRect">
              <a:avLst>
                <a:gd name="adj" fmla="val 5285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246063" y="2641823"/>
              <a:ext cx="388689" cy="361900"/>
            </a:xfrm>
            <a:prstGeom prst="rect">
              <a:avLst/>
            </a:prstGeom>
          </p:spPr>
        </p:pic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30003" y="2737073"/>
              <a:ext cx="171400" cy="171400"/>
            </a:xfrm>
            <a:prstGeom prst="rect">
              <a:avLst/>
            </a:prstGeom>
          </p:spPr>
        </p:pic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996653" y="2641823"/>
              <a:ext cx="635744" cy="361900"/>
            </a:xfrm>
            <a:prstGeom prst="rect">
              <a:avLst/>
            </a:prstGeom>
          </p:spPr>
        </p:pic>
        <p:sp>
          <p:nvSpPr>
            <p:cNvPr id="8" name="Text 3"/>
            <p:cNvSpPr/>
            <p:nvPr/>
          </p:nvSpPr>
          <p:spPr>
            <a:xfrm>
              <a:off x="1246063" y="3117949"/>
              <a:ext cx="5020089" cy="27808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1575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PDF to Excel Automation</a:t>
              </a:r>
              <a:endParaRPr lang="en-US" sz="1575" dirty="0"/>
            </a:p>
          </p:txBody>
        </p:sp>
        <p:sp>
          <p:nvSpPr>
            <p:cNvPr id="9" name="Text 4"/>
            <p:cNvSpPr/>
            <p:nvPr/>
          </p:nvSpPr>
          <p:spPr>
            <a:xfrm>
              <a:off x="1126048" y="3453185"/>
              <a:ext cx="5070088" cy="9165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Multi-format ingestion (invoices, GST, bank statements)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Intelligent header and data row detection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Zero manual handling, structured output ready for import</a:t>
              </a:r>
              <a:endParaRPr lang="en-US" sz="1350" dirty="0"/>
            </a:p>
          </p:txBody>
        </p:sp>
        <p:sp>
          <p:nvSpPr>
            <p:cNvPr id="10" name="Shape 5"/>
            <p:cNvSpPr/>
            <p:nvPr/>
          </p:nvSpPr>
          <p:spPr>
            <a:xfrm>
              <a:off x="6489650" y="2424410"/>
              <a:ext cx="5308699" cy="2162721"/>
            </a:xfrm>
            <a:prstGeom prst="roundRect">
              <a:avLst>
                <a:gd name="adj" fmla="val 5285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Shape 6"/>
            <p:cNvSpPr/>
            <p:nvPr/>
          </p:nvSpPr>
          <p:spPr>
            <a:xfrm>
              <a:off x="6707063" y="2641823"/>
              <a:ext cx="399976" cy="399976"/>
            </a:xfrm>
            <a:prstGeom prst="roundRect">
              <a:avLst>
                <a:gd name="adj" fmla="val 23814"/>
              </a:avLst>
            </a:prstGeom>
            <a:solidFill>
              <a:srgbClr val="1E73BE">
                <a:alpha val="8000"/>
              </a:srgbClr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11739" y="2746499"/>
              <a:ext cx="190500" cy="190500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6707063" y="3156024"/>
              <a:ext cx="5020089" cy="27808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1575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Intelligent Data Entry Elimination</a:t>
              </a:r>
              <a:endParaRPr lang="en-US" sz="1575" dirty="0"/>
            </a:p>
          </p:txBody>
        </p:sp>
        <p:sp>
          <p:nvSpPr>
            <p:cNvPr id="14" name="Text 8"/>
            <p:cNvSpPr/>
            <p:nvPr/>
          </p:nvSpPr>
          <p:spPr>
            <a:xfrm>
              <a:off x="6587048" y="3491260"/>
              <a:ext cx="5070088" cy="9165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Auto-populates Tally, QuickBooks, Xero from source docs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re-keying, no platform discrepancies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Configurable mapping rules per client</a:t>
              </a:r>
              <a:endParaRPr lang="en-US" sz="1350" dirty="0"/>
            </a:p>
          </p:txBody>
        </p:sp>
        <p:sp>
          <p:nvSpPr>
            <p:cNvPr id="15" name="Shape 9"/>
            <p:cNvSpPr/>
            <p:nvPr/>
          </p:nvSpPr>
          <p:spPr>
            <a:xfrm>
              <a:off x="11950650" y="2424410"/>
              <a:ext cx="5308699" cy="2162721"/>
            </a:xfrm>
            <a:prstGeom prst="roundRect">
              <a:avLst>
                <a:gd name="adj" fmla="val 5285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Shape 10"/>
            <p:cNvSpPr/>
            <p:nvPr/>
          </p:nvSpPr>
          <p:spPr>
            <a:xfrm>
              <a:off x="12168063" y="2641823"/>
              <a:ext cx="399976" cy="399976"/>
            </a:xfrm>
            <a:prstGeom prst="roundRect">
              <a:avLst>
                <a:gd name="adj" fmla="val 23814"/>
              </a:avLst>
            </a:prstGeom>
            <a:solidFill>
              <a:srgbClr val="1E73BE">
                <a:alpha val="8000"/>
              </a:srgbClr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7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272739" y="2746499"/>
              <a:ext cx="190500" cy="190500"/>
            </a:xfrm>
            <a:prstGeom prst="rect">
              <a:avLst/>
            </a:prstGeom>
          </p:spPr>
        </p:pic>
        <p:sp>
          <p:nvSpPr>
            <p:cNvPr id="18" name="Text 11"/>
            <p:cNvSpPr/>
            <p:nvPr/>
          </p:nvSpPr>
          <p:spPr>
            <a:xfrm>
              <a:off x="12168063" y="3156024"/>
              <a:ext cx="5020089" cy="27808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1575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Document Collection and Tracking</a:t>
              </a:r>
              <a:endParaRPr lang="en-US" sz="1575" dirty="0"/>
            </a:p>
          </p:txBody>
        </p:sp>
        <p:sp>
          <p:nvSpPr>
            <p:cNvPr id="19" name="Text 12"/>
            <p:cNvSpPr/>
            <p:nvPr/>
          </p:nvSpPr>
          <p:spPr>
            <a:xfrm>
              <a:off x="12048048" y="3491260"/>
              <a:ext cx="5070088" cy="9165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Automated client document request emails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Structured reminders per filing cycle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Live dashboard: outstanding items per client</a:t>
              </a:r>
              <a:endParaRPr lang="en-US" sz="1350" dirty="0"/>
            </a:p>
          </p:txBody>
        </p:sp>
        <p:sp>
          <p:nvSpPr>
            <p:cNvPr id="20" name="Shape 13"/>
            <p:cNvSpPr/>
            <p:nvPr/>
          </p:nvSpPr>
          <p:spPr>
            <a:xfrm>
              <a:off x="1028650" y="4739432"/>
              <a:ext cx="5308699" cy="2162721"/>
            </a:xfrm>
            <a:prstGeom prst="roundRect">
              <a:avLst>
                <a:gd name="adj" fmla="val 5285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Shape 14"/>
            <p:cNvSpPr/>
            <p:nvPr/>
          </p:nvSpPr>
          <p:spPr>
            <a:xfrm>
              <a:off x="1246063" y="4956845"/>
              <a:ext cx="399976" cy="399976"/>
            </a:xfrm>
            <a:prstGeom prst="roundRect">
              <a:avLst>
                <a:gd name="adj" fmla="val 23814"/>
              </a:avLst>
            </a:prstGeom>
            <a:solidFill>
              <a:srgbClr val="1E73BE">
                <a:alpha val="8000"/>
              </a:srgbClr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2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50739" y="5061520"/>
              <a:ext cx="190500" cy="190500"/>
            </a:xfrm>
            <a:prstGeom prst="rect">
              <a:avLst/>
            </a:prstGeom>
          </p:spPr>
        </p:pic>
        <p:sp>
          <p:nvSpPr>
            <p:cNvPr id="23" name="Text 15"/>
            <p:cNvSpPr/>
            <p:nvPr/>
          </p:nvSpPr>
          <p:spPr>
            <a:xfrm>
              <a:off x="1246063" y="5471046"/>
              <a:ext cx="5020089" cy="27808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1575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Reconciliation Automation</a:t>
              </a:r>
              <a:endParaRPr lang="en-US" sz="1575" dirty="0"/>
            </a:p>
          </p:txBody>
        </p:sp>
        <p:sp>
          <p:nvSpPr>
            <p:cNvPr id="24" name="Text 16"/>
            <p:cNvSpPr/>
            <p:nvPr/>
          </p:nvSpPr>
          <p:spPr>
            <a:xfrm>
              <a:off x="1126048" y="5806281"/>
              <a:ext cx="5070088" cy="9165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Cross-matches bank, ledger, GST, and TDS data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Exception flagging with clear audit trail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Eliminates manual cross-checking</a:t>
              </a:r>
              <a:endParaRPr lang="en-US" sz="1350" dirty="0"/>
            </a:p>
          </p:txBody>
        </p:sp>
        <p:sp>
          <p:nvSpPr>
            <p:cNvPr id="25" name="Shape 17"/>
            <p:cNvSpPr/>
            <p:nvPr/>
          </p:nvSpPr>
          <p:spPr>
            <a:xfrm>
              <a:off x="6489650" y="4739432"/>
              <a:ext cx="5308699" cy="2162721"/>
            </a:xfrm>
            <a:prstGeom prst="roundRect">
              <a:avLst>
                <a:gd name="adj" fmla="val 5285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Shape 18"/>
            <p:cNvSpPr/>
            <p:nvPr/>
          </p:nvSpPr>
          <p:spPr>
            <a:xfrm>
              <a:off x="6707063" y="4956845"/>
              <a:ext cx="399976" cy="399976"/>
            </a:xfrm>
            <a:prstGeom prst="roundRect">
              <a:avLst>
                <a:gd name="adj" fmla="val 23814"/>
              </a:avLst>
            </a:prstGeom>
            <a:solidFill>
              <a:srgbClr val="1E73BE">
                <a:alpha val="8000"/>
              </a:srgbClr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7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11739" y="5061520"/>
              <a:ext cx="190500" cy="190500"/>
            </a:xfrm>
            <a:prstGeom prst="rect">
              <a:avLst/>
            </a:prstGeom>
          </p:spPr>
        </p:pic>
        <p:sp>
          <p:nvSpPr>
            <p:cNvPr id="28" name="Text 19"/>
            <p:cNvSpPr/>
            <p:nvPr/>
          </p:nvSpPr>
          <p:spPr>
            <a:xfrm>
              <a:off x="6707063" y="5471046"/>
              <a:ext cx="5020089" cy="27808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1575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Internal Query Chatbots</a:t>
              </a:r>
              <a:endParaRPr lang="en-US" sz="1575" dirty="0"/>
            </a:p>
          </p:txBody>
        </p:sp>
        <p:sp>
          <p:nvSpPr>
            <p:cNvPr id="29" name="Text 20"/>
            <p:cNvSpPr/>
            <p:nvPr/>
          </p:nvSpPr>
          <p:spPr>
            <a:xfrm>
              <a:off x="6587048" y="5806281"/>
              <a:ext cx="5070088" cy="9165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Trained on firm filings, templates, and procedures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Instant answers without searching shared drives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Reduces escalations to senior staff</a:t>
              </a:r>
              <a:endParaRPr lang="en-US" sz="1350" dirty="0"/>
            </a:p>
          </p:txBody>
        </p:sp>
        <p:sp>
          <p:nvSpPr>
            <p:cNvPr id="30" name="Shape 21"/>
            <p:cNvSpPr/>
            <p:nvPr/>
          </p:nvSpPr>
          <p:spPr>
            <a:xfrm>
              <a:off x="11950650" y="4739432"/>
              <a:ext cx="5308699" cy="2162721"/>
            </a:xfrm>
            <a:prstGeom prst="roundRect">
              <a:avLst>
                <a:gd name="adj" fmla="val 5285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31" name="Image 7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12168063" y="4956845"/>
              <a:ext cx="645542" cy="361900"/>
            </a:xfrm>
            <a:prstGeom prst="rect">
              <a:avLst/>
            </a:prstGeom>
          </p:spPr>
        </p:pic>
        <p:sp>
          <p:nvSpPr>
            <p:cNvPr id="32" name="Text 22"/>
            <p:cNvSpPr/>
            <p:nvPr/>
          </p:nvSpPr>
          <p:spPr>
            <a:xfrm>
              <a:off x="12168063" y="5432971"/>
              <a:ext cx="5020089" cy="27808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1575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BI Dashboards and Reporting</a:t>
              </a:r>
              <a:endParaRPr lang="en-US" sz="1575" dirty="0"/>
            </a:p>
          </p:txBody>
        </p:sp>
        <p:sp>
          <p:nvSpPr>
            <p:cNvPr id="33" name="Text 23"/>
            <p:cNvSpPr/>
            <p:nvPr/>
          </p:nvSpPr>
          <p:spPr>
            <a:xfrm>
              <a:off x="12048048" y="5768206"/>
              <a:ext cx="5070088" cy="9165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Live Power BI, Tableau, or Looker dashboards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Compliance status, portfolio health, firm-wide view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Replaces static monthly PDFs</a:t>
              </a:r>
              <a:endParaRPr lang="en-US" sz="1350" dirty="0"/>
            </a:p>
          </p:txBody>
        </p:sp>
      </p:grpSp>
      <p:sp>
        <p:nvSpPr>
          <p:cNvPr id="34" name="Shape 24"/>
          <p:cNvSpPr/>
          <p:nvPr/>
        </p:nvSpPr>
        <p:spPr>
          <a:xfrm>
            <a:off x="1028650" y="9720461"/>
            <a:ext cx="16230699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5"/>
          <p:cNvSpPr/>
          <p:nvPr/>
        </p:nvSpPr>
        <p:spPr>
          <a:xfrm>
            <a:off x="16315779" y="9833074"/>
            <a:ext cx="1019770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350" dirty="0"/>
          </a:p>
        </p:txBody>
      </p:sp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4F99456B-1EC3-AF38-1D6A-25308113ADF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-241319" y="-374200"/>
            <a:ext cx="2997087" cy="2119604"/>
          </a:xfrm>
          <a:prstGeom prst="rect">
            <a:avLst/>
          </a:prstGeom>
        </p:spPr>
      </p:pic>
      <p:pic>
        <p:nvPicPr>
          <p:cNvPr id="41" name="Image 1" descr="preencoded.png">
            <a:extLst>
              <a:ext uri="{FF2B5EF4-FFF2-40B4-BE49-F238E27FC236}">
                <a16:creationId xmlns:a16="http://schemas.microsoft.com/office/drawing/2014/main" id="{A39C057C-8492-B8CE-22BA-4D709B98D82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3755872" y="362936"/>
            <a:ext cx="4260910" cy="9310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650" y="1316485"/>
            <a:ext cx="16717620" cy="26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kern="0" spc="180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28650" y="1926354"/>
            <a:ext cx="16717620" cy="751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250" b="1" kern="0" spc="-11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looks like in practice.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1028650" y="1876847"/>
            <a:ext cx="10791825" cy="805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28650" y="2835052"/>
            <a:ext cx="5295924" cy="1063625"/>
          </a:xfrm>
          <a:prstGeom prst="roundRect">
            <a:avLst>
              <a:gd name="adj" fmla="val 10746"/>
            </a:avLst>
          </a:prstGeom>
          <a:solidFill>
            <a:srgbClr val="FFFFFF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65163" y="3081858"/>
            <a:ext cx="22272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TIME PER BATCH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265163" y="3262808"/>
            <a:ext cx="2227262" cy="284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to 3 hours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65163" y="3508871"/>
            <a:ext cx="22272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52082" y="3033489"/>
            <a:ext cx="1135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75" b="1" kern="0" spc="78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AGILITY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952082" y="3214439"/>
            <a:ext cx="1135980" cy="3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952082" y="3557364"/>
            <a:ext cx="1135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97.5% faster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6495976" y="2835052"/>
            <a:ext cx="5295924" cy="1063625"/>
          </a:xfrm>
          <a:prstGeom prst="roundRect">
            <a:avLst>
              <a:gd name="adj" fmla="val 10746"/>
            </a:avLst>
          </a:prstGeom>
          <a:solidFill>
            <a:srgbClr val="FFFFFF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732488" y="3081858"/>
            <a:ext cx="19749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STAFF CAPACITY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732488" y="3262808"/>
            <a:ext cx="1974999" cy="284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to 180 hrs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732488" y="3508871"/>
            <a:ext cx="19749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0082064" y="3033489"/>
            <a:ext cx="14733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75" b="1" kern="0" spc="78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AGILITY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0082064" y="3214439"/>
            <a:ext cx="1473324" cy="3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hrs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082064" y="3557364"/>
            <a:ext cx="14733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freed for advisory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1963300" y="2835052"/>
            <a:ext cx="5295924" cy="1063625"/>
          </a:xfrm>
          <a:prstGeom prst="roundRect">
            <a:avLst>
              <a:gd name="adj" fmla="val 10746"/>
            </a:avLst>
          </a:prstGeom>
          <a:solidFill>
            <a:srgbClr val="FFFFFF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2199813" y="3081858"/>
            <a:ext cx="126434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ACCURACY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2199813" y="3262808"/>
            <a:ext cx="1264344" cy="284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199813" y="3508871"/>
            <a:ext cx="126434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5803264" y="3033489"/>
            <a:ext cx="12194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75" b="1" kern="0" spc="78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AGILITY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5803264" y="3214439"/>
            <a:ext cx="1219448" cy="3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5803264" y="3557364"/>
            <a:ext cx="12194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1028650" y="4070077"/>
            <a:ext cx="5295924" cy="5569272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265163" y="4268514"/>
            <a:ext cx="496758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time per batch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42009" y="6345535"/>
            <a:ext cx="676721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hrs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303238" y="6608961"/>
            <a:ext cx="2278062" cy="2286000"/>
          </a:xfrm>
          <a:prstGeom prst="roundRect">
            <a:avLst>
              <a:gd name="adj" fmla="val 3345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215927" y="8952012"/>
            <a:ext cx="5287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4686970" y="8555385"/>
            <a:ext cx="524049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3771801" y="8818811"/>
            <a:ext cx="2278187" cy="76150"/>
          </a:xfrm>
          <a:prstGeom prst="roundRect">
            <a:avLst>
              <a:gd name="adj" fmla="val 50000"/>
            </a:avLst>
          </a:prstGeom>
          <a:solidFill>
            <a:srgbClr val="1E7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44144" y="8952012"/>
            <a:ext cx="40969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1265163" y="9213949"/>
            <a:ext cx="4822899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265163" y="9298087"/>
            <a:ext cx="4967586" cy="180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97.5% reduction in processing time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6495976" y="4070077"/>
            <a:ext cx="5295924" cy="5569272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732488" y="5967388"/>
            <a:ext cx="496758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per month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32488" y="6291213"/>
            <a:ext cx="49862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088315" y="6291213"/>
            <a:ext cx="54327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 hrs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732488" y="6488038"/>
            <a:ext cx="4822899" cy="342801"/>
          </a:xfrm>
          <a:prstGeom prst="roundRect">
            <a:avLst>
              <a:gd name="adj" fmla="val 16671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732488" y="6488038"/>
            <a:ext cx="4822899" cy="342801"/>
          </a:xfrm>
          <a:prstGeom prst="roundRect">
            <a:avLst>
              <a:gd name="adj" fmla="val 16671"/>
            </a:avLst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732488" y="6926089"/>
            <a:ext cx="38737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162481" y="6926089"/>
            <a:ext cx="4691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hrs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32488" y="7122914"/>
            <a:ext cx="4822899" cy="342801"/>
          </a:xfrm>
          <a:prstGeom prst="roundRect">
            <a:avLst>
              <a:gd name="adj" fmla="val 16671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732488" y="7122914"/>
            <a:ext cx="351979" cy="342801"/>
          </a:xfrm>
          <a:prstGeom prst="roundRect">
            <a:avLst>
              <a:gd name="adj" fmla="val 16671"/>
            </a:avLst>
          </a:prstGeom>
          <a:solidFill>
            <a:srgbClr val="1E7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732488" y="7599040"/>
            <a:ext cx="496758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reduction in staff time spent on data entry</a:t>
            </a:r>
            <a:endParaRPr lang="en-US" sz="975" dirty="0"/>
          </a:p>
        </p:txBody>
      </p:sp>
      <p:sp>
        <p:nvSpPr>
          <p:cNvPr id="47" name="Shape 45"/>
          <p:cNvSpPr/>
          <p:nvPr/>
        </p:nvSpPr>
        <p:spPr>
          <a:xfrm>
            <a:off x="11963300" y="4070077"/>
            <a:ext cx="5295924" cy="5569272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8701" y="5667251"/>
            <a:ext cx="1905000" cy="1905000"/>
          </a:xfrm>
          <a:prstGeom prst="rect">
            <a:avLst/>
          </a:prstGeom>
        </p:spPr>
      </p:pic>
      <p:sp>
        <p:nvSpPr>
          <p:cNvPr id="49" name="Shape 46"/>
          <p:cNvSpPr/>
          <p:nvPr/>
        </p:nvSpPr>
        <p:spPr>
          <a:xfrm>
            <a:off x="13660934" y="7676927"/>
            <a:ext cx="85700" cy="85700"/>
          </a:xfrm>
          <a:prstGeom prst="ellipse">
            <a:avLst/>
          </a:prstGeom>
          <a:solidFill>
            <a:srgbClr val="1E7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13794258" y="7648401"/>
            <a:ext cx="9366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 accurate</a:t>
            </a:r>
            <a:endParaRPr lang="en-US" sz="975" dirty="0"/>
          </a:p>
        </p:txBody>
      </p:sp>
      <p:sp>
        <p:nvSpPr>
          <p:cNvPr id="51" name="Shape 48"/>
          <p:cNvSpPr/>
          <p:nvPr/>
        </p:nvSpPr>
        <p:spPr>
          <a:xfrm>
            <a:off x="14788058" y="7676927"/>
            <a:ext cx="85700" cy="8570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14921383" y="7648401"/>
            <a:ext cx="7162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 errors</a:t>
            </a:r>
            <a:endParaRPr lang="en-US" sz="975" dirty="0"/>
          </a:p>
        </p:txBody>
      </p:sp>
      <p:sp>
        <p:nvSpPr>
          <p:cNvPr id="53" name="Text 50"/>
          <p:cNvSpPr/>
          <p:nvPr/>
        </p:nvSpPr>
        <p:spPr>
          <a:xfrm>
            <a:off x="13513693" y="7867427"/>
            <a:ext cx="2195140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accuracy in production</a:t>
            </a:r>
            <a:endParaRPr lang="en-US" sz="1125" dirty="0"/>
          </a:p>
        </p:txBody>
      </p:sp>
      <p:sp>
        <p:nvSpPr>
          <p:cNvPr id="54" name="Shape 51"/>
          <p:cNvSpPr/>
          <p:nvPr/>
        </p:nvSpPr>
        <p:spPr>
          <a:xfrm>
            <a:off x="1028650" y="9720461"/>
            <a:ext cx="16230699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2"/>
          <p:cNvSpPr/>
          <p:nvPr/>
        </p:nvSpPr>
        <p:spPr>
          <a:xfrm>
            <a:off x="16315779" y="9833074"/>
            <a:ext cx="1019770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50" dirty="0"/>
          </a:p>
        </p:txBody>
      </p:sp>
      <p:pic>
        <p:nvPicPr>
          <p:cNvPr id="58" name="Image 0" descr="preencoded.png">
            <a:extLst>
              <a:ext uri="{FF2B5EF4-FFF2-40B4-BE49-F238E27FC236}">
                <a16:creationId xmlns:a16="http://schemas.microsoft.com/office/drawing/2014/main" id="{0557AB6B-DD32-8E21-D47E-7AAFA781A0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41319" y="-374200"/>
            <a:ext cx="2997087" cy="2119604"/>
          </a:xfrm>
          <a:prstGeom prst="rect">
            <a:avLst/>
          </a:prstGeom>
        </p:spPr>
      </p:pic>
      <p:pic>
        <p:nvPicPr>
          <p:cNvPr id="60" name="Image 1" descr="preencoded.png">
            <a:extLst>
              <a:ext uri="{FF2B5EF4-FFF2-40B4-BE49-F238E27FC236}">
                <a16:creationId xmlns:a16="http://schemas.microsoft.com/office/drawing/2014/main" id="{8E80D120-89EB-6A7C-1306-F4EB5A3BF5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755872" y="362936"/>
            <a:ext cx="4260910" cy="9310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7"/>
          <p:cNvSpPr/>
          <p:nvPr/>
        </p:nvSpPr>
        <p:spPr>
          <a:xfrm>
            <a:off x="1028650" y="9720461"/>
            <a:ext cx="16230699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4A997D42-1A5C-119E-3428-2BA5519C81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41319" y="-374200"/>
            <a:ext cx="2997087" cy="2119604"/>
          </a:xfrm>
          <a:prstGeom prst="rect">
            <a:avLst/>
          </a:prstGeom>
        </p:spPr>
      </p:pic>
      <p:pic>
        <p:nvPicPr>
          <p:cNvPr id="43" name="Image 1" descr="preencoded.png">
            <a:extLst>
              <a:ext uri="{FF2B5EF4-FFF2-40B4-BE49-F238E27FC236}">
                <a16:creationId xmlns:a16="http://schemas.microsoft.com/office/drawing/2014/main" id="{868DBA19-A884-00B4-4CB2-E6182C8D26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55872" y="362936"/>
            <a:ext cx="4260910" cy="931081"/>
          </a:xfrm>
          <a:prstGeom prst="rect">
            <a:avLst/>
          </a:prstGeom>
        </p:spPr>
      </p:pic>
      <p:sp>
        <p:nvSpPr>
          <p:cNvPr id="71" name="Text 0">
            <a:extLst>
              <a:ext uri="{FF2B5EF4-FFF2-40B4-BE49-F238E27FC236}">
                <a16:creationId xmlns:a16="http://schemas.microsoft.com/office/drawing/2014/main" id="{C6B6C018-D91E-C171-7C38-340E68E14C2C}"/>
              </a:ext>
            </a:extLst>
          </p:cNvPr>
          <p:cNvSpPr/>
          <p:nvPr/>
        </p:nvSpPr>
        <p:spPr>
          <a:xfrm>
            <a:off x="1181050" y="1388738"/>
            <a:ext cx="16717620" cy="26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kern="0" spc="180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2500" dirty="0"/>
          </a:p>
        </p:txBody>
      </p:sp>
      <p:sp>
        <p:nvSpPr>
          <p:cNvPr id="72" name="Text 1">
            <a:extLst>
              <a:ext uri="{FF2B5EF4-FFF2-40B4-BE49-F238E27FC236}">
                <a16:creationId xmlns:a16="http://schemas.microsoft.com/office/drawing/2014/main" id="{7651E9D3-05CB-39E2-98DF-07A47503B61B}"/>
              </a:ext>
            </a:extLst>
          </p:cNvPr>
          <p:cNvSpPr/>
          <p:nvPr/>
        </p:nvSpPr>
        <p:spPr>
          <a:xfrm>
            <a:off x="1181050" y="1903324"/>
            <a:ext cx="16717620" cy="506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4200" b="1" kern="0" spc="-76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Brokerage Firm, United States</a:t>
            </a:r>
            <a:endParaRPr lang="en-US" sz="4200" dirty="0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5A9B81D-193C-59A6-DB33-A8249DA760E8}"/>
              </a:ext>
            </a:extLst>
          </p:cNvPr>
          <p:cNvGrpSpPr/>
          <p:nvPr/>
        </p:nvGrpSpPr>
        <p:grpSpPr>
          <a:xfrm>
            <a:off x="1096913" y="2913106"/>
            <a:ext cx="16230699" cy="1841872"/>
            <a:chOff x="1181050" y="2241823"/>
            <a:chExt cx="16230699" cy="1841872"/>
          </a:xfrm>
        </p:grpSpPr>
        <p:sp>
          <p:nvSpPr>
            <p:cNvPr id="73" name="Shape 2">
              <a:extLst>
                <a:ext uri="{FF2B5EF4-FFF2-40B4-BE49-F238E27FC236}">
                  <a16:creationId xmlns:a16="http://schemas.microsoft.com/office/drawing/2014/main" id="{1E21B616-5987-E619-E287-79C61546733F}"/>
                </a:ext>
              </a:extLst>
            </p:cNvPr>
            <p:cNvSpPr/>
            <p:nvPr/>
          </p:nvSpPr>
          <p:spPr>
            <a:xfrm>
              <a:off x="1181050" y="2241823"/>
              <a:ext cx="5321350" cy="1841872"/>
            </a:xfrm>
            <a:prstGeom prst="roundRect">
              <a:avLst>
                <a:gd name="adj" fmla="val 5171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sp>
          <p:nvSpPr>
            <p:cNvPr id="74" name="Text 3">
              <a:extLst>
                <a:ext uri="{FF2B5EF4-FFF2-40B4-BE49-F238E27FC236}">
                  <a16:creationId xmlns:a16="http://schemas.microsoft.com/office/drawing/2014/main" id="{CE427C34-5580-7382-C6FC-CB104714E2AB}"/>
                </a:ext>
              </a:extLst>
            </p:cNvPr>
            <p:cNvSpPr/>
            <p:nvPr/>
          </p:nvSpPr>
          <p:spPr>
            <a:xfrm>
              <a:off x="1360388" y="2383085"/>
              <a:ext cx="5111554" cy="165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900" b="1" kern="0" spc="9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PROBLEM</a:t>
              </a:r>
              <a:endParaRPr lang="en-US" sz="900" dirty="0"/>
            </a:p>
          </p:txBody>
        </p:sp>
        <p:sp>
          <p:nvSpPr>
            <p:cNvPr id="75" name="Text 4">
              <a:extLst>
                <a:ext uri="{FF2B5EF4-FFF2-40B4-BE49-F238E27FC236}">
                  <a16:creationId xmlns:a16="http://schemas.microsoft.com/office/drawing/2014/main" id="{68E117B7-0A6E-751B-8305-BDED5469950D}"/>
                </a:ext>
              </a:extLst>
            </p:cNvPr>
            <p:cNvSpPr/>
            <p:nvPr/>
          </p:nvSpPr>
          <p:spPr>
            <a:xfrm>
              <a:off x="1240373" y="2586236"/>
              <a:ext cx="5158889" cy="139429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50-plus carriers, each sending statements in a different format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 to 3 hours per statement, 150 to 180 hours consumed every month</a:t>
              </a:r>
              <a:r>
                <a:rPr lang="en-US" sz="1350" dirty="0"/>
                <a:t> </a:t>
              </a: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 percent error rate, constant correction cycles, delayed month-end close</a:t>
              </a:r>
              <a:endParaRPr lang="en-US" sz="1350" dirty="0"/>
            </a:p>
          </p:txBody>
        </p:sp>
        <p:sp>
          <p:nvSpPr>
            <p:cNvPr id="76" name="Shape 5">
              <a:extLst>
                <a:ext uri="{FF2B5EF4-FFF2-40B4-BE49-F238E27FC236}">
                  <a16:creationId xmlns:a16="http://schemas.microsoft.com/office/drawing/2014/main" id="{016B6BAD-4909-D8D9-0A05-961DD5298791}"/>
                </a:ext>
              </a:extLst>
            </p:cNvPr>
            <p:cNvSpPr/>
            <p:nvPr/>
          </p:nvSpPr>
          <p:spPr>
            <a:xfrm>
              <a:off x="6635725" y="2241823"/>
              <a:ext cx="5321350" cy="1841872"/>
            </a:xfrm>
            <a:prstGeom prst="roundRect">
              <a:avLst>
                <a:gd name="adj" fmla="val 5171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sp>
          <p:nvSpPr>
            <p:cNvPr id="77" name="Text 6">
              <a:extLst>
                <a:ext uri="{FF2B5EF4-FFF2-40B4-BE49-F238E27FC236}">
                  <a16:creationId xmlns:a16="http://schemas.microsoft.com/office/drawing/2014/main" id="{39E5BD99-8E22-0E81-4A7C-E61BF5353CF0}"/>
                </a:ext>
              </a:extLst>
            </p:cNvPr>
            <p:cNvSpPr/>
            <p:nvPr/>
          </p:nvSpPr>
          <p:spPr>
            <a:xfrm>
              <a:off x="6815063" y="2383085"/>
              <a:ext cx="5111554" cy="165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900" b="1" kern="0" spc="9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WHAT AGILITY BUILT</a:t>
              </a:r>
              <a:endParaRPr lang="en-US" sz="900" dirty="0"/>
            </a:p>
          </p:txBody>
        </p:sp>
        <p:sp>
          <p:nvSpPr>
            <p:cNvPr id="78" name="Text 7">
              <a:extLst>
                <a:ext uri="{FF2B5EF4-FFF2-40B4-BE49-F238E27FC236}">
                  <a16:creationId xmlns:a16="http://schemas.microsoft.com/office/drawing/2014/main" id="{66C02F0B-FC36-6A0F-4FEA-D49015FD8070}"/>
                </a:ext>
              </a:extLst>
            </p:cNvPr>
            <p:cNvSpPr/>
            <p:nvPr/>
          </p:nvSpPr>
          <p:spPr>
            <a:xfrm>
              <a:off x="6695048" y="2586236"/>
              <a:ext cx="5158889" cy="139429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Multi-format ingestion engine handling xlsx, xls, csv, txt, and ods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Intelligent header detection across any carrier file structure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Automated GST and TDS calculations, 27-column standardised output</a:t>
              </a:r>
              <a:endParaRPr lang="en-US" sz="1350" dirty="0"/>
            </a:p>
          </p:txBody>
        </p:sp>
        <p:sp>
          <p:nvSpPr>
            <p:cNvPr id="79" name="Shape 8">
              <a:extLst>
                <a:ext uri="{FF2B5EF4-FFF2-40B4-BE49-F238E27FC236}">
                  <a16:creationId xmlns:a16="http://schemas.microsoft.com/office/drawing/2014/main" id="{CF600174-F49E-5B73-8AF1-C35F4F7347C6}"/>
                </a:ext>
              </a:extLst>
            </p:cNvPr>
            <p:cNvSpPr/>
            <p:nvPr/>
          </p:nvSpPr>
          <p:spPr>
            <a:xfrm>
              <a:off x="12090399" y="2241823"/>
              <a:ext cx="5321350" cy="1841872"/>
            </a:xfrm>
            <a:prstGeom prst="roundRect">
              <a:avLst>
                <a:gd name="adj" fmla="val 5171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sp>
          <p:nvSpPr>
            <p:cNvPr id="80" name="Text 9">
              <a:extLst>
                <a:ext uri="{FF2B5EF4-FFF2-40B4-BE49-F238E27FC236}">
                  <a16:creationId xmlns:a16="http://schemas.microsoft.com/office/drawing/2014/main" id="{924E0C93-B61E-BF75-9552-476F0718E8BF}"/>
                </a:ext>
              </a:extLst>
            </p:cNvPr>
            <p:cNvSpPr/>
            <p:nvPr/>
          </p:nvSpPr>
          <p:spPr>
            <a:xfrm>
              <a:off x="12269737" y="2383085"/>
              <a:ext cx="5111554" cy="1651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900" b="1" kern="0" spc="9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HOW IT WORKS</a:t>
              </a:r>
              <a:endParaRPr lang="en-US" sz="900" dirty="0"/>
            </a:p>
          </p:txBody>
        </p:sp>
        <p:sp>
          <p:nvSpPr>
            <p:cNvPr id="81" name="Text 10">
              <a:extLst>
                <a:ext uri="{FF2B5EF4-FFF2-40B4-BE49-F238E27FC236}">
                  <a16:creationId xmlns:a16="http://schemas.microsoft.com/office/drawing/2014/main" id="{A07E240E-A52A-1925-6A78-48CBE794C95D}"/>
                </a:ext>
              </a:extLst>
            </p:cNvPr>
            <p:cNvSpPr/>
            <p:nvPr/>
          </p:nvSpPr>
          <p:spPr>
            <a:xfrm>
              <a:off x="12149722" y="2586236"/>
              <a:ext cx="5158889" cy="114587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Any carrier file dropped in, no manual configuration per format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Rules engine maps each transaction to the correct bank ledger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Full audit trail on every transaction. Zero disruption during rollout</a:t>
              </a:r>
              <a:endParaRPr lang="en-US" sz="1350" dirty="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C81D820-F784-585E-19FE-6ED8AA540ED5}"/>
              </a:ext>
            </a:extLst>
          </p:cNvPr>
          <p:cNvGrpSpPr/>
          <p:nvPr/>
        </p:nvGrpSpPr>
        <p:grpSpPr>
          <a:xfrm>
            <a:off x="1104850" y="5411081"/>
            <a:ext cx="16230699" cy="882427"/>
            <a:chOff x="1181050" y="4217020"/>
            <a:chExt cx="16230699" cy="882427"/>
          </a:xfrm>
        </p:grpSpPr>
        <p:sp>
          <p:nvSpPr>
            <p:cNvPr id="82" name="Shape 11">
              <a:extLst>
                <a:ext uri="{FF2B5EF4-FFF2-40B4-BE49-F238E27FC236}">
                  <a16:creationId xmlns:a16="http://schemas.microsoft.com/office/drawing/2014/main" id="{313CB1C7-FD04-FD05-8A7F-1B6A42F9C069}"/>
                </a:ext>
              </a:extLst>
            </p:cNvPr>
            <p:cNvSpPr/>
            <p:nvPr/>
          </p:nvSpPr>
          <p:spPr>
            <a:xfrm>
              <a:off x="1181050" y="4217020"/>
              <a:ext cx="16230699" cy="882427"/>
            </a:xfrm>
            <a:prstGeom prst="roundRect">
              <a:avLst>
                <a:gd name="adj" fmla="val 14032"/>
              </a:avLst>
            </a:prstGeom>
            <a:solidFill>
              <a:srgbClr val="FFFFFF"/>
            </a:solidFill>
            <a:ln w="7937">
              <a:solidFill>
                <a:srgbClr val="E2E8F0"/>
              </a:solidFill>
              <a:prstDash val="solid"/>
            </a:ln>
          </p:spPr>
        </p:sp>
        <p:sp>
          <p:nvSpPr>
            <p:cNvPr id="83" name="Shape 12">
              <a:extLst>
                <a:ext uri="{FF2B5EF4-FFF2-40B4-BE49-F238E27FC236}">
                  <a16:creationId xmlns:a16="http://schemas.microsoft.com/office/drawing/2014/main" id="{2601DEE6-7E4A-F3D8-E4B3-1AF1744FFA1B}"/>
                </a:ext>
              </a:extLst>
            </p:cNvPr>
            <p:cNvSpPr/>
            <p:nvPr/>
          </p:nvSpPr>
          <p:spPr>
            <a:xfrm>
              <a:off x="5234756" y="4224958"/>
              <a:ext cx="9525" cy="866552"/>
            </a:xfrm>
            <a:prstGeom prst="rect">
              <a:avLst/>
            </a:prstGeom>
            <a:solidFill>
              <a:srgbClr val="E2E8F0"/>
            </a:solidFill>
            <a:ln/>
          </p:spPr>
        </p:sp>
        <p:sp>
          <p:nvSpPr>
            <p:cNvPr id="84" name="Text 13">
              <a:extLst>
                <a:ext uri="{FF2B5EF4-FFF2-40B4-BE49-F238E27FC236}">
                  <a16:creationId xmlns:a16="http://schemas.microsoft.com/office/drawing/2014/main" id="{0628710C-F294-CCA7-7789-ACD82D3109F2}"/>
                </a:ext>
              </a:extLst>
            </p:cNvPr>
            <p:cNvSpPr/>
            <p:nvPr/>
          </p:nvSpPr>
          <p:spPr>
            <a:xfrm>
              <a:off x="1379488" y="4377258"/>
              <a:ext cx="1280095" cy="438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3150" b="1" dirty="0">
                  <a:solidFill>
                    <a:srgbClr val="1E73B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97.5%</a:t>
              </a:r>
              <a:endParaRPr lang="en-US" sz="3150" dirty="0"/>
            </a:p>
          </p:txBody>
        </p:sp>
        <p:sp>
          <p:nvSpPr>
            <p:cNvPr id="85" name="Text 14">
              <a:extLst>
                <a:ext uri="{FF2B5EF4-FFF2-40B4-BE49-F238E27FC236}">
                  <a16:creationId xmlns:a16="http://schemas.microsoft.com/office/drawing/2014/main" id="{C98C6A58-443B-1992-B612-B3ABCABECC82}"/>
                </a:ext>
              </a:extLst>
            </p:cNvPr>
            <p:cNvSpPr/>
            <p:nvPr/>
          </p:nvSpPr>
          <p:spPr>
            <a:xfrm>
              <a:off x="1379488" y="4796333"/>
              <a:ext cx="957138" cy="1809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975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Processing time</a:t>
              </a:r>
              <a:endParaRPr lang="en-US" sz="975" dirty="0"/>
            </a:p>
          </p:txBody>
        </p:sp>
        <p:sp>
          <p:nvSpPr>
            <p:cNvPr id="86" name="Shape 15">
              <a:extLst>
                <a:ext uri="{FF2B5EF4-FFF2-40B4-BE49-F238E27FC236}">
                  <a16:creationId xmlns:a16="http://schemas.microsoft.com/office/drawing/2014/main" id="{36C211D6-1E19-2D0B-B0A8-FA1F36ECA5A2}"/>
                </a:ext>
              </a:extLst>
            </p:cNvPr>
            <p:cNvSpPr/>
            <p:nvPr/>
          </p:nvSpPr>
          <p:spPr>
            <a:xfrm>
              <a:off x="9288463" y="4224958"/>
              <a:ext cx="9525" cy="866552"/>
            </a:xfrm>
            <a:prstGeom prst="rect">
              <a:avLst/>
            </a:prstGeom>
            <a:solidFill>
              <a:srgbClr val="E2E8F0"/>
            </a:solidFill>
            <a:ln/>
          </p:spPr>
        </p:sp>
        <p:sp>
          <p:nvSpPr>
            <p:cNvPr id="87" name="Text 16">
              <a:extLst>
                <a:ext uri="{FF2B5EF4-FFF2-40B4-BE49-F238E27FC236}">
                  <a16:creationId xmlns:a16="http://schemas.microsoft.com/office/drawing/2014/main" id="{E970B575-DD82-67B9-D3A8-EF4F54423C2E}"/>
                </a:ext>
              </a:extLst>
            </p:cNvPr>
            <p:cNvSpPr/>
            <p:nvPr/>
          </p:nvSpPr>
          <p:spPr>
            <a:xfrm>
              <a:off x="5433194" y="4377258"/>
              <a:ext cx="999554" cy="438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3150" b="1" dirty="0">
                  <a:solidFill>
                    <a:srgbClr val="1E73B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150+</a:t>
              </a:r>
              <a:endParaRPr lang="en-US" sz="3150" dirty="0"/>
            </a:p>
          </p:txBody>
        </p:sp>
        <p:sp>
          <p:nvSpPr>
            <p:cNvPr id="88" name="Text 17">
              <a:extLst>
                <a:ext uri="{FF2B5EF4-FFF2-40B4-BE49-F238E27FC236}">
                  <a16:creationId xmlns:a16="http://schemas.microsoft.com/office/drawing/2014/main" id="{A6241CA0-BB33-6FE6-F764-E76C53E345CD}"/>
                </a:ext>
              </a:extLst>
            </p:cNvPr>
            <p:cNvSpPr/>
            <p:nvPr/>
          </p:nvSpPr>
          <p:spPr>
            <a:xfrm>
              <a:off x="5433194" y="4796333"/>
              <a:ext cx="991617" cy="1809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975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Hours recovered</a:t>
              </a:r>
              <a:endParaRPr lang="en-US" sz="975" dirty="0"/>
            </a:p>
          </p:txBody>
        </p:sp>
        <p:sp>
          <p:nvSpPr>
            <p:cNvPr id="89" name="Shape 18">
              <a:extLst>
                <a:ext uri="{FF2B5EF4-FFF2-40B4-BE49-F238E27FC236}">
                  <a16:creationId xmlns:a16="http://schemas.microsoft.com/office/drawing/2014/main" id="{717B1D4E-5A0F-A1EE-40FE-97A229014E83}"/>
                </a:ext>
              </a:extLst>
            </p:cNvPr>
            <p:cNvSpPr/>
            <p:nvPr/>
          </p:nvSpPr>
          <p:spPr>
            <a:xfrm>
              <a:off x="13342169" y="4224958"/>
              <a:ext cx="9525" cy="866552"/>
            </a:xfrm>
            <a:prstGeom prst="rect">
              <a:avLst/>
            </a:prstGeom>
            <a:solidFill>
              <a:srgbClr val="E2E8F0"/>
            </a:solidFill>
            <a:ln/>
          </p:spPr>
        </p:sp>
        <p:sp>
          <p:nvSpPr>
            <p:cNvPr id="90" name="Text 19">
              <a:extLst>
                <a:ext uri="{FF2B5EF4-FFF2-40B4-BE49-F238E27FC236}">
                  <a16:creationId xmlns:a16="http://schemas.microsoft.com/office/drawing/2014/main" id="{720FA8A1-7C50-396F-76FC-7EC5B1081682}"/>
                </a:ext>
              </a:extLst>
            </p:cNvPr>
            <p:cNvSpPr/>
            <p:nvPr/>
          </p:nvSpPr>
          <p:spPr>
            <a:xfrm>
              <a:off x="9486900" y="4377258"/>
              <a:ext cx="1215107" cy="438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3150" b="1" dirty="0">
                  <a:solidFill>
                    <a:srgbClr val="1E73B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&lt;0.1%</a:t>
              </a:r>
              <a:endParaRPr lang="en-US" sz="3150" dirty="0"/>
            </a:p>
          </p:txBody>
        </p:sp>
        <p:sp>
          <p:nvSpPr>
            <p:cNvPr id="91" name="Text 20">
              <a:extLst>
                <a:ext uri="{FF2B5EF4-FFF2-40B4-BE49-F238E27FC236}">
                  <a16:creationId xmlns:a16="http://schemas.microsoft.com/office/drawing/2014/main" id="{7A1A1BF1-F9A1-5753-2DBE-9AA8DC16B865}"/>
                </a:ext>
              </a:extLst>
            </p:cNvPr>
            <p:cNvSpPr/>
            <p:nvPr/>
          </p:nvSpPr>
          <p:spPr>
            <a:xfrm>
              <a:off x="9486900" y="4796333"/>
              <a:ext cx="599207" cy="1809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975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Error rate</a:t>
              </a:r>
              <a:endParaRPr lang="en-US" sz="975" dirty="0"/>
            </a:p>
          </p:txBody>
        </p:sp>
        <p:sp>
          <p:nvSpPr>
            <p:cNvPr id="92" name="Text 21">
              <a:extLst>
                <a:ext uri="{FF2B5EF4-FFF2-40B4-BE49-F238E27FC236}">
                  <a16:creationId xmlns:a16="http://schemas.microsoft.com/office/drawing/2014/main" id="{0AA23B8D-8D1D-15A9-5C88-DF9C09C27953}"/>
                </a:ext>
              </a:extLst>
            </p:cNvPr>
            <p:cNvSpPr/>
            <p:nvPr/>
          </p:nvSpPr>
          <p:spPr>
            <a:xfrm>
              <a:off x="13540606" y="4377258"/>
              <a:ext cx="837456" cy="438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3150" b="1" dirty="0">
                  <a:solidFill>
                    <a:srgbClr val="1E73B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50+</a:t>
              </a:r>
              <a:endParaRPr lang="en-US" sz="3150" dirty="0"/>
            </a:p>
          </p:txBody>
        </p:sp>
        <p:sp>
          <p:nvSpPr>
            <p:cNvPr id="93" name="Text 22">
              <a:extLst>
                <a:ext uri="{FF2B5EF4-FFF2-40B4-BE49-F238E27FC236}">
                  <a16:creationId xmlns:a16="http://schemas.microsoft.com/office/drawing/2014/main" id="{52967A20-003F-B3AC-1587-7EFC1AEA0416}"/>
                </a:ext>
              </a:extLst>
            </p:cNvPr>
            <p:cNvSpPr/>
            <p:nvPr/>
          </p:nvSpPr>
          <p:spPr>
            <a:xfrm>
              <a:off x="13540606" y="4796333"/>
              <a:ext cx="901824" cy="1809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975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Carrier formats</a:t>
              </a:r>
              <a:endParaRPr lang="en-US" sz="975" dirty="0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551DB8F-2A47-E101-A7F8-7F690776D22C}"/>
              </a:ext>
            </a:extLst>
          </p:cNvPr>
          <p:cNvGrpSpPr/>
          <p:nvPr/>
        </p:nvGrpSpPr>
        <p:grpSpPr>
          <a:xfrm>
            <a:off x="1104849" y="6998853"/>
            <a:ext cx="16230700" cy="2092647"/>
            <a:chOff x="1181050" y="5213672"/>
            <a:chExt cx="16230700" cy="2092647"/>
          </a:xfrm>
        </p:grpSpPr>
        <p:sp>
          <p:nvSpPr>
            <p:cNvPr id="94" name="Shape 23">
              <a:extLst>
                <a:ext uri="{FF2B5EF4-FFF2-40B4-BE49-F238E27FC236}">
                  <a16:creationId xmlns:a16="http://schemas.microsoft.com/office/drawing/2014/main" id="{888468F6-FAB3-27B2-C7E7-55D80951798E}"/>
                </a:ext>
              </a:extLst>
            </p:cNvPr>
            <p:cNvSpPr/>
            <p:nvPr/>
          </p:nvSpPr>
          <p:spPr>
            <a:xfrm>
              <a:off x="1181050" y="5213672"/>
              <a:ext cx="8048625" cy="2092647"/>
            </a:xfrm>
            <a:prstGeom prst="roundRect">
              <a:avLst>
                <a:gd name="adj" fmla="val 5917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sp>
          <p:nvSpPr>
            <p:cNvPr id="95" name="Text 24">
              <a:extLst>
                <a:ext uri="{FF2B5EF4-FFF2-40B4-BE49-F238E27FC236}">
                  <a16:creationId xmlns:a16="http://schemas.microsoft.com/office/drawing/2014/main" id="{3C0B35EA-E9B2-E2C8-3EF2-6F656B895303}"/>
                </a:ext>
              </a:extLst>
            </p:cNvPr>
            <p:cNvSpPr/>
            <p:nvPr/>
          </p:nvSpPr>
          <p:spPr>
            <a:xfrm>
              <a:off x="1417563" y="5412110"/>
              <a:ext cx="7802867" cy="18891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975" b="1" kern="0" spc="78" dirty="0">
                  <a:solidFill>
                    <a:srgbClr val="1E73B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IMPACT ON BUSINESS</a:t>
              </a:r>
              <a:endParaRPr lang="en-US" sz="975" dirty="0"/>
            </a:p>
          </p:txBody>
        </p:sp>
        <p:sp>
          <p:nvSpPr>
            <p:cNvPr id="96" name="Text 25">
              <a:extLst>
                <a:ext uri="{FF2B5EF4-FFF2-40B4-BE49-F238E27FC236}">
                  <a16:creationId xmlns:a16="http://schemas.microsoft.com/office/drawing/2014/main" id="{281642DD-E912-B804-3542-E76A9D68D15D}"/>
                </a:ext>
              </a:extLst>
            </p:cNvPr>
            <p:cNvSpPr/>
            <p:nvPr/>
          </p:nvSpPr>
          <p:spPr>
            <a:xfrm>
              <a:off x="1304216" y="5667598"/>
              <a:ext cx="7765147" cy="147838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Processing dropped from 2 to 3 hours per batch to under 5 minutes</a:t>
              </a:r>
              <a:endParaRPr lang="en-US" sz="1275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Same-day processing became the default across all 50-plus carriers</a:t>
              </a:r>
              <a:endParaRPr lang="en-US" sz="1275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150-plus hours consumed by data entry returned to the team monthly</a:t>
              </a:r>
              <a:endParaRPr lang="en-US" sz="1275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Error rate fell from approximately 5 percent to under 0.1 percent</a:t>
              </a:r>
              <a:endParaRPr lang="en-US" sz="1275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Full audit trail on every transaction, producible on demand</a:t>
              </a:r>
              <a:endParaRPr lang="en-US" sz="1275" dirty="0"/>
            </a:p>
          </p:txBody>
        </p:sp>
        <p:sp>
          <p:nvSpPr>
            <p:cNvPr id="97" name="Shape 26">
              <a:extLst>
                <a:ext uri="{FF2B5EF4-FFF2-40B4-BE49-F238E27FC236}">
                  <a16:creationId xmlns:a16="http://schemas.microsoft.com/office/drawing/2014/main" id="{329904D0-E46D-F5BF-0472-4BDE6DBB6396}"/>
                </a:ext>
              </a:extLst>
            </p:cNvPr>
            <p:cNvSpPr/>
            <p:nvPr/>
          </p:nvSpPr>
          <p:spPr>
            <a:xfrm>
              <a:off x="9363001" y="5213672"/>
              <a:ext cx="8048749" cy="2092647"/>
            </a:xfrm>
            <a:prstGeom prst="roundRect">
              <a:avLst>
                <a:gd name="adj" fmla="val 5917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sp>
          <p:nvSpPr>
            <p:cNvPr id="98" name="Text 27">
              <a:extLst>
                <a:ext uri="{FF2B5EF4-FFF2-40B4-BE49-F238E27FC236}">
                  <a16:creationId xmlns:a16="http://schemas.microsoft.com/office/drawing/2014/main" id="{457D9E4A-DDBE-1CE6-7040-A926B3AEB0FF}"/>
                </a:ext>
              </a:extLst>
            </p:cNvPr>
            <p:cNvSpPr/>
            <p:nvPr/>
          </p:nvSpPr>
          <p:spPr>
            <a:xfrm>
              <a:off x="9599513" y="5412110"/>
              <a:ext cx="7802995" cy="18891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975" b="1" kern="0" spc="78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CLIENT BENEFIT</a:t>
              </a:r>
              <a:endParaRPr lang="en-US" sz="975" dirty="0"/>
            </a:p>
          </p:txBody>
        </p:sp>
        <p:sp>
          <p:nvSpPr>
            <p:cNvPr id="99" name="Text 28">
              <a:extLst>
                <a:ext uri="{FF2B5EF4-FFF2-40B4-BE49-F238E27FC236}">
                  <a16:creationId xmlns:a16="http://schemas.microsoft.com/office/drawing/2014/main" id="{F4316C1F-27DA-EA49-65EE-C3CA9E59CE65}"/>
                </a:ext>
              </a:extLst>
            </p:cNvPr>
            <p:cNvSpPr/>
            <p:nvPr/>
          </p:nvSpPr>
          <p:spPr>
            <a:xfrm>
              <a:off x="9486165" y="5667598"/>
              <a:ext cx="7765271" cy="147838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Monday morning backlogs eliminated entirely</a:t>
              </a:r>
              <a:endParaRPr lang="en-US" sz="1275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Finance team redirected to higher-value advisory work</a:t>
              </a:r>
              <a:endParaRPr lang="en-US" sz="1275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Portfolio grew without adding headcount</a:t>
              </a:r>
              <a:endParaRPr lang="en-US" sz="1275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Correction cycles and client escalations stopped entirely</a:t>
              </a:r>
              <a:endParaRPr lang="en-US" sz="1275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275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Freed budget commissioned the next phase of automation</a:t>
              </a:r>
              <a:endParaRPr lang="en-US" sz="1275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28">
            <a:extLst>
              <a:ext uri="{FF2B5EF4-FFF2-40B4-BE49-F238E27FC236}">
                <a16:creationId xmlns:a16="http://schemas.microsoft.com/office/drawing/2014/main" id="{6EEE8C99-976B-8AE3-6019-2D46B0B988F4}"/>
              </a:ext>
            </a:extLst>
          </p:cNvPr>
          <p:cNvSpPr/>
          <p:nvPr/>
        </p:nvSpPr>
        <p:spPr>
          <a:xfrm>
            <a:off x="16263441" y="9806036"/>
            <a:ext cx="107210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425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B9A7C2A-6DD6-20D1-F819-CE6787498B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41319" y="-374200"/>
            <a:ext cx="2997087" cy="2119604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4144E999-2880-1D3D-E9A6-CA6CC2B412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55872" y="362936"/>
            <a:ext cx="4260910" cy="931081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0B95F2E-01A6-FD5F-AC5C-1FC289F74140}"/>
              </a:ext>
            </a:extLst>
          </p:cNvPr>
          <p:cNvSpPr/>
          <p:nvPr/>
        </p:nvSpPr>
        <p:spPr>
          <a:xfrm>
            <a:off x="1257224" y="1605472"/>
            <a:ext cx="16717620" cy="26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kern="0" spc="180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25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4EE7FA0-51AD-C536-E4E6-0EFB33F83E82}"/>
              </a:ext>
            </a:extLst>
          </p:cNvPr>
          <p:cNvSpPr/>
          <p:nvPr/>
        </p:nvSpPr>
        <p:spPr>
          <a:xfrm>
            <a:off x="1257224" y="2116831"/>
            <a:ext cx="16717620" cy="1301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4200" b="1" kern="0" spc="-102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approach with low disruption and measurable ROI.</a:t>
            </a:r>
            <a:endParaRPr lang="en-US" sz="4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F35ABC9-584F-6EBE-3640-3498F8FC7B8F}"/>
              </a:ext>
            </a:extLst>
          </p:cNvPr>
          <p:cNvSpPr/>
          <p:nvPr/>
        </p:nvSpPr>
        <p:spPr>
          <a:xfrm>
            <a:off x="1028650" y="2427263"/>
            <a:ext cx="10791825" cy="805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950" dirty="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6468214-DE72-226A-D630-D8FC8F470F29}"/>
              </a:ext>
            </a:extLst>
          </p:cNvPr>
          <p:cNvGrpSpPr/>
          <p:nvPr/>
        </p:nvGrpSpPr>
        <p:grpSpPr>
          <a:xfrm>
            <a:off x="248876" y="7697360"/>
            <a:ext cx="17725967" cy="1662862"/>
            <a:chOff x="1163277" y="7689422"/>
            <a:chExt cx="16384768" cy="588863"/>
          </a:xfrm>
        </p:grpSpPr>
        <p:sp>
          <p:nvSpPr>
            <p:cNvPr id="29" name="Shape 25">
              <a:extLst>
                <a:ext uri="{FF2B5EF4-FFF2-40B4-BE49-F238E27FC236}">
                  <a16:creationId xmlns:a16="http://schemas.microsoft.com/office/drawing/2014/main" id="{A32842CC-588A-7391-606B-8B7B3B414247}"/>
                </a:ext>
              </a:extLst>
            </p:cNvPr>
            <p:cNvSpPr/>
            <p:nvPr/>
          </p:nvSpPr>
          <p:spPr>
            <a:xfrm>
              <a:off x="1163277" y="7689422"/>
              <a:ext cx="16230699" cy="588863"/>
            </a:xfrm>
            <a:prstGeom prst="roundRect">
              <a:avLst>
                <a:gd name="adj" fmla="val 19410"/>
              </a:avLst>
            </a:prstGeom>
            <a:ln w="7937">
              <a:solidFill>
                <a:srgbClr val="1E73BE">
                  <a:alpha val="22000"/>
                </a:srgbClr>
              </a:solidFill>
              <a:prstDash val="solid"/>
            </a:ln>
          </p:spPr>
        </p:sp>
        <p:sp>
          <p:nvSpPr>
            <p:cNvPr id="30" name="Shape 26">
              <a:extLst>
                <a:ext uri="{FF2B5EF4-FFF2-40B4-BE49-F238E27FC236}">
                  <a16:creationId xmlns:a16="http://schemas.microsoft.com/office/drawing/2014/main" id="{4EDF00E9-0F48-1D3C-1CCB-88D1F82DA99F}"/>
                </a:ext>
              </a:extLst>
            </p:cNvPr>
            <p:cNvSpPr/>
            <p:nvPr/>
          </p:nvSpPr>
          <p:spPr>
            <a:xfrm>
              <a:off x="1171215" y="7697360"/>
              <a:ext cx="47625" cy="572988"/>
            </a:xfrm>
            <a:prstGeom prst="rect">
              <a:avLst/>
            </a:prstGeom>
            <a:solidFill>
              <a:srgbClr val="1E73BE"/>
            </a:solidFill>
            <a:ln/>
          </p:spPr>
        </p:sp>
        <p:sp>
          <p:nvSpPr>
            <p:cNvPr id="31" name="Shape 27">
              <a:extLst>
                <a:ext uri="{FF2B5EF4-FFF2-40B4-BE49-F238E27FC236}">
                  <a16:creationId xmlns:a16="http://schemas.microsoft.com/office/drawing/2014/main" id="{424B31E6-60CD-478F-BD4D-E90E416B1233}"/>
                </a:ext>
              </a:extLst>
            </p:cNvPr>
            <p:cNvSpPr/>
            <p:nvPr/>
          </p:nvSpPr>
          <p:spPr>
            <a:xfrm>
              <a:off x="1218840" y="7697360"/>
              <a:ext cx="16167199" cy="572988"/>
            </a:xfrm>
            <a:prstGeom prst="rect">
              <a:avLst/>
            </a:prstGeom>
            <a:solidFill>
              <a:srgbClr val="1E73BE">
                <a:alpha val="4000"/>
              </a:srgbClr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2" name="Text 28">
              <a:extLst>
                <a:ext uri="{FF2B5EF4-FFF2-40B4-BE49-F238E27FC236}">
                  <a16:creationId xmlns:a16="http://schemas.microsoft.com/office/drawing/2014/main" id="{9A232755-ECC3-9938-CDEB-057508419EEA}"/>
                </a:ext>
              </a:extLst>
            </p:cNvPr>
            <p:cNvSpPr/>
            <p:nvPr/>
          </p:nvSpPr>
          <p:spPr>
            <a:xfrm>
              <a:off x="1523565" y="7868760"/>
              <a:ext cx="16024480" cy="2682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endParaRPr lang="en-US" sz="1500" dirty="0"/>
            </a:p>
          </p:txBody>
        </p:sp>
      </p:grpSp>
      <p:sp>
        <p:nvSpPr>
          <p:cNvPr id="33" name="Shape 29">
            <a:extLst>
              <a:ext uri="{FF2B5EF4-FFF2-40B4-BE49-F238E27FC236}">
                <a16:creationId xmlns:a16="http://schemas.microsoft.com/office/drawing/2014/main" id="{A90DB8A4-97DF-7122-EAFC-CD984B9CB8E2}"/>
              </a:ext>
            </a:extLst>
          </p:cNvPr>
          <p:cNvSpPr/>
          <p:nvPr/>
        </p:nvSpPr>
        <p:spPr>
          <a:xfrm>
            <a:off x="1028650" y="9720461"/>
            <a:ext cx="162306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A0B1818-B9C1-C496-1F3C-1BC559268ABC}"/>
              </a:ext>
            </a:extLst>
          </p:cNvPr>
          <p:cNvSpPr txBox="1"/>
          <p:nvPr/>
        </p:nvSpPr>
        <p:spPr>
          <a:xfrm>
            <a:off x="479838" y="8059635"/>
            <a:ext cx="167414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a working result on your real data before committing to anything further. Every engagement runs on that principle.</a:t>
            </a:r>
            <a:endParaRPr lang="en-US" sz="3000" dirty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AED815F-13CA-8F0F-0801-BCD248DBCDC3}"/>
              </a:ext>
            </a:extLst>
          </p:cNvPr>
          <p:cNvGrpSpPr/>
          <p:nvPr/>
        </p:nvGrpSpPr>
        <p:grpSpPr>
          <a:xfrm>
            <a:off x="705468" y="3739492"/>
            <a:ext cx="17169506" cy="2932521"/>
            <a:chOff x="638656" y="4086585"/>
            <a:chExt cx="17169506" cy="293252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7602CA3-D6D6-E997-1033-DB371D2E5FAA}"/>
                </a:ext>
              </a:extLst>
            </p:cNvPr>
            <p:cNvGrpSpPr/>
            <p:nvPr/>
          </p:nvGrpSpPr>
          <p:grpSpPr>
            <a:xfrm>
              <a:off x="638656" y="4086585"/>
              <a:ext cx="17169506" cy="2481163"/>
              <a:chOff x="1181679" y="3523764"/>
              <a:chExt cx="17169506" cy="2481163"/>
            </a:xfrm>
          </p:grpSpPr>
          <p:sp>
            <p:nvSpPr>
              <p:cNvPr id="7" name="Shape 3">
                <a:extLst>
                  <a:ext uri="{FF2B5EF4-FFF2-40B4-BE49-F238E27FC236}">
                    <a16:creationId xmlns:a16="http://schemas.microsoft.com/office/drawing/2014/main" id="{331EE165-D532-5F8A-8057-FFAF81958532}"/>
                  </a:ext>
                </a:extLst>
              </p:cNvPr>
              <p:cNvSpPr/>
              <p:nvPr/>
            </p:nvSpPr>
            <p:spPr>
              <a:xfrm>
                <a:off x="2512853" y="3537768"/>
                <a:ext cx="476250" cy="476250"/>
              </a:xfrm>
              <a:prstGeom prst="ellipse">
                <a:avLst/>
              </a:prstGeom>
              <a:solidFill>
                <a:srgbClr val="1E73BE"/>
              </a:solidFill>
              <a:ln/>
            </p:spPr>
          </p:sp>
          <p:sp>
            <p:nvSpPr>
              <p:cNvPr id="8" name="Text 4">
                <a:extLst>
                  <a:ext uri="{FF2B5EF4-FFF2-40B4-BE49-F238E27FC236}">
                    <a16:creationId xmlns:a16="http://schemas.microsoft.com/office/drawing/2014/main" id="{B5ADB084-1C0D-998C-E0E4-164CAA38B0BB}"/>
                  </a:ext>
                </a:extLst>
              </p:cNvPr>
              <p:cNvSpPr/>
              <p:nvPr/>
            </p:nvSpPr>
            <p:spPr>
              <a:xfrm>
                <a:off x="2492517" y="3537768"/>
                <a:ext cx="552450" cy="5143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</a:t>
                </a:r>
                <a:endParaRPr lang="en-US" sz="1500" dirty="0"/>
              </a:p>
            </p:txBody>
          </p:sp>
          <p:sp>
            <p:nvSpPr>
              <p:cNvPr id="9" name="Text 5">
                <a:extLst>
                  <a:ext uri="{FF2B5EF4-FFF2-40B4-BE49-F238E27FC236}">
                    <a16:creationId xmlns:a16="http://schemas.microsoft.com/office/drawing/2014/main" id="{E31270B9-A1A5-DD51-1E54-76F6C88BAC6D}"/>
                  </a:ext>
                </a:extLst>
              </p:cNvPr>
              <p:cNvSpPr/>
              <p:nvPr/>
            </p:nvSpPr>
            <p:spPr>
              <a:xfrm>
                <a:off x="2196654" y="4204493"/>
                <a:ext cx="1169094" cy="30003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0B122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Discovery</a:t>
                </a:r>
                <a:endParaRPr lang="en-US" sz="1800" dirty="0"/>
              </a:p>
            </p:txBody>
          </p:sp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477D7B73-A192-BF03-37C3-310EB620F09D}"/>
                  </a:ext>
                </a:extLst>
              </p:cNvPr>
              <p:cNvSpPr/>
              <p:nvPr/>
            </p:nvSpPr>
            <p:spPr>
              <a:xfrm>
                <a:off x="1181679" y="4579791"/>
                <a:ext cx="4025439" cy="1164977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45000"/>
                  </a:lnSpc>
                  <a:buNone/>
                </a:pPr>
                <a:r>
                  <a:rPr lang="en-US" sz="1400" b="1" dirty="0">
                    <a:solidFill>
                      <a:srgbClr val="1E293B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We map highest-volume manual workflows across all three practices</a:t>
                </a:r>
                <a:br>
                  <a:rPr lang="en-US" sz="1400" b="1" dirty="0">
                    <a:solidFill>
                      <a:srgbClr val="1E293B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</a:br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l">
                  <a:lnSpc>
                    <a:spcPct val="145000"/>
                  </a:lnSpc>
                  <a:buNone/>
                </a:pPr>
                <a:r>
                  <a:rPr lang="en-US" sz="1400" b="1" dirty="0">
                    <a:solidFill>
                      <a:srgbClr val="1E293B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Clear findings presented with no jargon</a:t>
                </a:r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l">
                  <a:lnSpc>
                    <a:spcPct val="145000"/>
                  </a:lnSpc>
                  <a:buNone/>
                </a:pPr>
                <a:r>
                  <a:rPr lang="en-US" sz="1400" b="1" dirty="0">
                    <a:solidFill>
                      <a:srgbClr val="1E293B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One agreed priority process selected to go first</a:t>
                </a:r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Shape 7">
                <a:extLst>
                  <a:ext uri="{FF2B5EF4-FFF2-40B4-BE49-F238E27FC236}">
                    <a16:creationId xmlns:a16="http://schemas.microsoft.com/office/drawing/2014/main" id="{603FDF2E-775F-3695-557D-176F70AE1AC4}"/>
                  </a:ext>
                </a:extLst>
              </p:cNvPr>
              <p:cNvSpPr/>
              <p:nvPr/>
            </p:nvSpPr>
            <p:spPr>
              <a:xfrm>
                <a:off x="6876976" y="3537768"/>
                <a:ext cx="476250" cy="476250"/>
              </a:xfrm>
              <a:prstGeom prst="ellipse">
                <a:avLst/>
              </a:prstGeom>
              <a:solidFill>
                <a:srgbClr val="1E73BE"/>
              </a:solidFill>
              <a:ln/>
            </p:spPr>
          </p:sp>
          <p:sp>
            <p:nvSpPr>
              <p:cNvPr id="12" name="Text 8">
                <a:extLst>
                  <a:ext uri="{FF2B5EF4-FFF2-40B4-BE49-F238E27FC236}">
                    <a16:creationId xmlns:a16="http://schemas.microsoft.com/office/drawing/2014/main" id="{0323DB34-284E-8173-F5AB-8783BF4195E0}"/>
                  </a:ext>
                </a:extLst>
              </p:cNvPr>
              <p:cNvSpPr/>
              <p:nvPr/>
            </p:nvSpPr>
            <p:spPr>
              <a:xfrm>
                <a:off x="6838876" y="3537768"/>
                <a:ext cx="552450" cy="5143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</a:t>
                </a:r>
                <a:endParaRPr lang="en-US" sz="1500" dirty="0"/>
              </a:p>
            </p:txBody>
          </p:sp>
          <p:sp>
            <p:nvSpPr>
              <p:cNvPr id="13" name="Text 9">
                <a:extLst>
                  <a:ext uri="{FF2B5EF4-FFF2-40B4-BE49-F238E27FC236}">
                    <a16:creationId xmlns:a16="http://schemas.microsoft.com/office/drawing/2014/main" id="{F1995329-B3FC-F981-5AB3-43EEB5A8C9D2}"/>
                  </a:ext>
                </a:extLst>
              </p:cNvPr>
              <p:cNvSpPr/>
              <p:nvPr/>
            </p:nvSpPr>
            <p:spPr>
              <a:xfrm>
                <a:off x="6876976" y="4147344"/>
                <a:ext cx="571550" cy="30003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0B122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Pilot</a:t>
                </a:r>
                <a:endParaRPr lang="en-US" sz="1800" dirty="0"/>
              </a:p>
            </p:txBody>
          </p:sp>
          <p:sp>
            <p:nvSpPr>
              <p:cNvPr id="14" name="Text 10">
                <a:extLst>
                  <a:ext uri="{FF2B5EF4-FFF2-40B4-BE49-F238E27FC236}">
                    <a16:creationId xmlns:a16="http://schemas.microsoft.com/office/drawing/2014/main" id="{1B3D1468-4602-A6C6-C0B0-5DCE1E319EBF}"/>
                  </a:ext>
                </a:extLst>
              </p:cNvPr>
              <p:cNvSpPr/>
              <p:nvPr/>
            </p:nvSpPr>
            <p:spPr>
              <a:xfrm>
                <a:off x="5226167" y="4591531"/>
                <a:ext cx="4515936" cy="141339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45000"/>
                  </a:lnSpc>
                  <a:buNone/>
                </a:pPr>
                <a:r>
                  <a:rPr lang="en-US" sz="1400" b="1" dirty="0">
                    <a:solidFill>
                      <a:srgbClr val="1E293B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That process is automated end-to-end on your real data</a:t>
                </a:r>
                <a:br>
                  <a:rPr lang="en-US" sz="1400" b="1" dirty="0">
                    <a:solidFill>
                      <a:srgbClr val="1E293B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</a:br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l">
                  <a:lnSpc>
                    <a:spcPct val="145000"/>
                  </a:lnSpc>
                  <a:buNone/>
                </a:pPr>
                <a:r>
                  <a:rPr lang="en-US" sz="1400" b="1" dirty="0">
                    <a:solidFill>
                      <a:srgbClr val="1E293B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You measure the result before any broader rollout is agreed</a:t>
                </a:r>
              </a:p>
              <a:p>
                <a:pPr marL="0" indent="0" algn="l">
                  <a:lnSpc>
                    <a:spcPct val="145000"/>
                  </a:lnSpc>
                  <a:buNone/>
                </a:pPr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Shape 11">
                <a:extLst>
                  <a:ext uri="{FF2B5EF4-FFF2-40B4-BE49-F238E27FC236}">
                    <a16:creationId xmlns:a16="http://schemas.microsoft.com/office/drawing/2014/main" id="{D01E0EE3-BB89-205A-AD72-014A798A130F}"/>
                  </a:ext>
                </a:extLst>
              </p:cNvPr>
              <p:cNvSpPr/>
              <p:nvPr/>
            </p:nvSpPr>
            <p:spPr>
              <a:xfrm>
                <a:off x="11473919" y="3537768"/>
                <a:ext cx="476250" cy="476250"/>
              </a:xfrm>
              <a:prstGeom prst="ellipse">
                <a:avLst/>
              </a:prstGeom>
              <a:solidFill>
                <a:srgbClr val="1E73BE"/>
              </a:solidFill>
              <a:ln/>
            </p:spPr>
          </p:sp>
          <p:sp>
            <p:nvSpPr>
              <p:cNvPr id="16" name="Text 12">
                <a:extLst>
                  <a:ext uri="{FF2B5EF4-FFF2-40B4-BE49-F238E27FC236}">
                    <a16:creationId xmlns:a16="http://schemas.microsoft.com/office/drawing/2014/main" id="{ACEA3FB1-3CCA-0C93-9F8A-0019DEE4E8DB}"/>
                  </a:ext>
                </a:extLst>
              </p:cNvPr>
              <p:cNvSpPr/>
              <p:nvPr/>
            </p:nvSpPr>
            <p:spPr>
              <a:xfrm>
                <a:off x="11418055" y="3523764"/>
                <a:ext cx="552450" cy="5143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3</a:t>
                </a:r>
                <a:endParaRPr lang="en-US" sz="1500" dirty="0"/>
              </a:p>
            </p:txBody>
          </p:sp>
          <p:sp>
            <p:nvSpPr>
              <p:cNvPr id="17" name="Text 13">
                <a:extLst>
                  <a:ext uri="{FF2B5EF4-FFF2-40B4-BE49-F238E27FC236}">
                    <a16:creationId xmlns:a16="http://schemas.microsoft.com/office/drawing/2014/main" id="{B17E13E4-4BB5-8F35-50FD-67E69D74AFAE}"/>
                  </a:ext>
                </a:extLst>
              </p:cNvPr>
              <p:cNvSpPr/>
              <p:nvPr/>
            </p:nvSpPr>
            <p:spPr>
              <a:xfrm>
                <a:off x="11414306" y="4220918"/>
                <a:ext cx="838448" cy="30003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0B122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Deploy</a:t>
                </a:r>
                <a:endParaRPr lang="en-US" sz="1800" dirty="0"/>
              </a:p>
            </p:txBody>
          </p:sp>
          <p:sp>
            <p:nvSpPr>
              <p:cNvPr id="18" name="Text 14">
                <a:extLst>
                  <a:ext uri="{FF2B5EF4-FFF2-40B4-BE49-F238E27FC236}">
                    <a16:creationId xmlns:a16="http://schemas.microsoft.com/office/drawing/2014/main" id="{C53924F3-24B2-EBE9-FC54-2CFFBF02BD1F}"/>
                  </a:ext>
                </a:extLst>
              </p:cNvPr>
              <p:cNvSpPr/>
              <p:nvPr/>
            </p:nvSpPr>
            <p:spPr>
              <a:xfrm>
                <a:off x="9258226" y="4504531"/>
                <a:ext cx="3944100" cy="53493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/>
              </a:bodyPr>
              <a:lstStyle/>
              <a:p>
                <a:pPr marL="0" indent="0" algn="l">
                  <a:lnSpc>
                    <a:spcPct val="145000"/>
                  </a:lnSpc>
                  <a:buNone/>
                </a:pPr>
                <a:endParaRPr lang="en-US" sz="1350" dirty="0"/>
              </a:p>
            </p:txBody>
          </p:sp>
          <p:sp>
            <p:nvSpPr>
              <p:cNvPr id="19" name="Text 15">
                <a:extLst>
                  <a:ext uri="{FF2B5EF4-FFF2-40B4-BE49-F238E27FC236}">
                    <a16:creationId xmlns:a16="http://schemas.microsoft.com/office/drawing/2014/main" id="{8B4A55A2-6E36-2E4F-3EA0-4F889CF1585F}"/>
                  </a:ext>
                </a:extLst>
              </p:cNvPr>
              <p:cNvSpPr/>
              <p:nvPr/>
            </p:nvSpPr>
            <p:spPr>
              <a:xfrm>
                <a:off x="9410526" y="5091782"/>
                <a:ext cx="971897" cy="4849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ct val="145000"/>
                  </a:lnSpc>
                  <a:buNone/>
                </a:pPr>
                <a:endParaRPr lang="en-US" sz="1350" dirty="0"/>
              </a:p>
            </p:txBody>
          </p:sp>
          <p:sp>
            <p:nvSpPr>
              <p:cNvPr id="20" name="Text 16">
                <a:extLst>
                  <a:ext uri="{FF2B5EF4-FFF2-40B4-BE49-F238E27FC236}">
                    <a16:creationId xmlns:a16="http://schemas.microsoft.com/office/drawing/2014/main" id="{22B3656E-C333-AEC8-FB9B-AAF08D3F57D3}"/>
                  </a:ext>
                </a:extLst>
              </p:cNvPr>
              <p:cNvSpPr/>
              <p:nvPr/>
            </p:nvSpPr>
            <p:spPr>
              <a:xfrm>
                <a:off x="10523512" y="5067970"/>
                <a:ext cx="454223" cy="286519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lnSpc>
                    <a:spcPct val="145000"/>
                  </a:lnSpc>
                  <a:buNone/>
                </a:pPr>
                <a:endParaRPr lang="en-US" sz="1350" dirty="0"/>
              </a:p>
            </p:txBody>
          </p:sp>
          <p:sp>
            <p:nvSpPr>
              <p:cNvPr id="21" name="Text 17">
                <a:extLst>
                  <a:ext uri="{FF2B5EF4-FFF2-40B4-BE49-F238E27FC236}">
                    <a16:creationId xmlns:a16="http://schemas.microsoft.com/office/drawing/2014/main" id="{08D907FF-E6BF-A3F0-E1B5-8D7D6367AD5B}"/>
                  </a:ext>
                </a:extLst>
              </p:cNvPr>
              <p:cNvSpPr/>
              <p:nvPr/>
            </p:nvSpPr>
            <p:spPr>
              <a:xfrm>
                <a:off x="10996786" y="5091782"/>
                <a:ext cx="123949" cy="2365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 fontScale="92500" lnSpcReduction="10000"/>
              </a:bodyPr>
              <a:lstStyle/>
              <a:p>
                <a:pPr marL="0" indent="0" algn="l">
                  <a:lnSpc>
                    <a:spcPct val="145000"/>
                  </a:lnSpc>
                  <a:buNone/>
                </a:pPr>
                <a:r>
                  <a:rPr lang="en-US" sz="1350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</a:t>
                </a:r>
                <a:endParaRPr lang="en-US" sz="1350" dirty="0"/>
              </a:p>
            </p:txBody>
          </p:sp>
          <p:sp>
            <p:nvSpPr>
              <p:cNvPr id="22" name="Text 18">
                <a:extLst>
                  <a:ext uri="{FF2B5EF4-FFF2-40B4-BE49-F238E27FC236}">
                    <a16:creationId xmlns:a16="http://schemas.microsoft.com/office/drawing/2014/main" id="{EFEE4D67-5539-06FC-DA4D-CCD79D8EBD19}"/>
                  </a:ext>
                </a:extLst>
              </p:cNvPr>
              <p:cNvSpPr/>
              <p:nvPr/>
            </p:nvSpPr>
            <p:spPr>
              <a:xfrm>
                <a:off x="11139785" y="5067970"/>
                <a:ext cx="524297" cy="286519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lnSpc>
                    <a:spcPct val="145000"/>
                  </a:lnSpc>
                  <a:buNone/>
                </a:pPr>
                <a:endParaRPr lang="en-US" sz="1350" dirty="0"/>
              </a:p>
            </p:txBody>
          </p:sp>
          <p:sp>
            <p:nvSpPr>
              <p:cNvPr id="23" name="Text 19">
                <a:extLst>
                  <a:ext uri="{FF2B5EF4-FFF2-40B4-BE49-F238E27FC236}">
                    <a16:creationId xmlns:a16="http://schemas.microsoft.com/office/drawing/2014/main" id="{F0C58DB3-FE5F-BB4E-6868-38DD6FC7CAA9}"/>
                  </a:ext>
                </a:extLst>
              </p:cNvPr>
              <p:cNvSpPr/>
              <p:nvPr/>
            </p:nvSpPr>
            <p:spPr>
              <a:xfrm>
                <a:off x="11683131" y="5091782"/>
                <a:ext cx="1372121" cy="4849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lnSpc>
                    <a:spcPct val="145000"/>
                  </a:lnSpc>
                  <a:buNone/>
                </a:pPr>
                <a:endParaRPr lang="en-US" sz="1350" dirty="0"/>
              </a:p>
            </p:txBody>
          </p:sp>
          <p:sp>
            <p:nvSpPr>
              <p:cNvPr id="24" name="Text 20">
                <a:extLst>
                  <a:ext uri="{FF2B5EF4-FFF2-40B4-BE49-F238E27FC236}">
                    <a16:creationId xmlns:a16="http://schemas.microsoft.com/office/drawing/2014/main" id="{10403B47-2FFD-4466-38CB-41418C96EF0B}"/>
                  </a:ext>
                </a:extLst>
              </p:cNvPr>
              <p:cNvSpPr/>
              <p:nvPr/>
            </p:nvSpPr>
            <p:spPr>
              <a:xfrm>
                <a:off x="9258226" y="5631408"/>
                <a:ext cx="3944100" cy="286519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lnSpc>
                    <a:spcPct val="145000"/>
                  </a:lnSpc>
                  <a:buNone/>
                </a:pPr>
                <a:endParaRPr lang="en-US" sz="1350" dirty="0"/>
              </a:p>
            </p:txBody>
          </p:sp>
          <p:sp>
            <p:nvSpPr>
              <p:cNvPr id="25" name="Shape 21">
                <a:extLst>
                  <a:ext uri="{FF2B5EF4-FFF2-40B4-BE49-F238E27FC236}">
                    <a16:creationId xmlns:a16="http://schemas.microsoft.com/office/drawing/2014/main" id="{7301A1B1-4612-E5C0-649F-C3F0C720D021}"/>
                  </a:ext>
                </a:extLst>
              </p:cNvPr>
              <p:cNvSpPr/>
              <p:nvPr/>
            </p:nvSpPr>
            <p:spPr>
              <a:xfrm>
                <a:off x="15681423" y="3556818"/>
                <a:ext cx="476250" cy="476250"/>
              </a:xfrm>
              <a:prstGeom prst="ellipse">
                <a:avLst/>
              </a:prstGeom>
              <a:solidFill>
                <a:srgbClr val="1E73BE"/>
              </a:solidFill>
              <a:ln/>
            </p:spPr>
          </p:sp>
          <p:sp>
            <p:nvSpPr>
              <p:cNvPr id="26" name="Text 22">
                <a:extLst>
                  <a:ext uri="{FF2B5EF4-FFF2-40B4-BE49-F238E27FC236}">
                    <a16:creationId xmlns:a16="http://schemas.microsoft.com/office/drawing/2014/main" id="{BAA23C67-2CF8-EADB-1813-612E4E3BA734}"/>
                  </a:ext>
                </a:extLst>
              </p:cNvPr>
              <p:cNvSpPr/>
              <p:nvPr/>
            </p:nvSpPr>
            <p:spPr>
              <a:xfrm>
                <a:off x="15643323" y="3566893"/>
                <a:ext cx="552450" cy="5143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4</a:t>
                </a:r>
                <a:endParaRPr lang="en-US" sz="1500" dirty="0"/>
              </a:p>
            </p:txBody>
          </p:sp>
          <p:sp>
            <p:nvSpPr>
              <p:cNvPr id="27" name="Text 23">
                <a:extLst>
                  <a:ext uri="{FF2B5EF4-FFF2-40B4-BE49-F238E27FC236}">
                    <a16:creationId xmlns:a16="http://schemas.microsoft.com/office/drawing/2014/main" id="{13F2B522-58AC-CA5B-CA2B-E4C1B6673723}"/>
                  </a:ext>
                </a:extLst>
              </p:cNvPr>
              <p:cNvSpPr/>
              <p:nvPr/>
            </p:nvSpPr>
            <p:spPr>
              <a:xfrm>
                <a:off x="15468574" y="4220404"/>
                <a:ext cx="901948" cy="30003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0B122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Expand</a:t>
                </a:r>
                <a:endParaRPr lang="en-US" sz="1800" dirty="0"/>
              </a:p>
            </p:txBody>
          </p:sp>
          <p:sp>
            <p:nvSpPr>
              <p:cNvPr id="28" name="Text 24">
                <a:extLst>
                  <a:ext uri="{FF2B5EF4-FFF2-40B4-BE49-F238E27FC236}">
                    <a16:creationId xmlns:a16="http://schemas.microsoft.com/office/drawing/2014/main" id="{3FD0D2AA-CDFD-6367-AACE-608358D7DE98}"/>
                  </a:ext>
                </a:extLst>
              </p:cNvPr>
              <p:cNvSpPr/>
              <p:nvPr/>
            </p:nvSpPr>
            <p:spPr>
              <a:xfrm>
                <a:off x="14325746" y="4562032"/>
                <a:ext cx="4025439" cy="141339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45000"/>
                  </a:lnSpc>
                  <a:buNone/>
                </a:pPr>
                <a:r>
                  <a:rPr lang="en-US" sz="1400" b="1" dirty="0">
                    <a:solidFill>
                      <a:srgbClr val="1E293B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Automation extended across additional workflows as ROI is confirmed</a:t>
                </a:r>
                <a:br>
                  <a:rPr lang="en-US" sz="1400" b="1" dirty="0">
                    <a:solidFill>
                      <a:srgbClr val="1E293B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</a:br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l">
                  <a:lnSpc>
                    <a:spcPct val="145000"/>
                  </a:lnSpc>
                  <a:buNone/>
                </a:pPr>
                <a:r>
                  <a:rPr lang="en-US" sz="1400" b="1" dirty="0">
                    <a:solidFill>
                      <a:srgbClr val="1E293B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Monthly reporting on capacity recovered, errors caught, and value delivered</a:t>
                </a:r>
                <a:br>
                  <a:rPr lang="en-US" sz="1400" b="1" dirty="0">
                    <a:solidFill>
                      <a:srgbClr val="1E293B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</a:br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l">
                  <a:lnSpc>
                    <a:spcPct val="145000"/>
                  </a:lnSpc>
                  <a:buNone/>
                </a:pPr>
                <a:r>
                  <a:rPr lang="en-US" sz="1400" b="1" dirty="0">
                    <a:solidFill>
                      <a:srgbClr val="1E293B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You decide the pace of rollout at every stage</a:t>
                </a:r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25A9D4C-4FE8-2415-6F5E-59535596FBFE}"/>
                </a:ext>
              </a:extLst>
            </p:cNvPr>
            <p:cNvSpPr txBox="1"/>
            <p:nvPr/>
          </p:nvSpPr>
          <p:spPr>
            <a:xfrm>
              <a:off x="9290221" y="5203224"/>
              <a:ext cx="4372501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Full production deployment with your team trained on the system</a:t>
              </a:r>
              <a:b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Integrates directly with Tally, Excel, and your existing practice software</a:t>
              </a:r>
              <a:b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Zero disruption to live client work during rollout</a:t>
              </a:r>
            </a:p>
            <a:p>
              <a:endParaRPr lang="en-IN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028650" y="1352351"/>
            <a:ext cx="16717620" cy="26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180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INTELLIGENCE AND REPORTING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1028650" y="1734840"/>
            <a:ext cx="16717620" cy="62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4350" b="1" kern="0" spc="-96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intelligence across all three practices.</a:t>
            </a:r>
            <a:endParaRPr lang="en-US" sz="4350" dirty="0"/>
          </a:p>
        </p:txBody>
      </p:sp>
      <p:sp>
        <p:nvSpPr>
          <p:cNvPr id="6" name="Shape 2"/>
          <p:cNvSpPr/>
          <p:nvPr/>
        </p:nvSpPr>
        <p:spPr>
          <a:xfrm>
            <a:off x="1028650" y="2535287"/>
            <a:ext cx="7982024" cy="1201415"/>
          </a:xfrm>
          <a:prstGeom prst="roundRect">
            <a:avLst>
              <a:gd name="adj" fmla="val 7928"/>
            </a:avLst>
          </a:prstGeom>
          <a:solidFill>
            <a:srgbClr val="F7F9FB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1227088" y="2714625"/>
            <a:ext cx="342801" cy="342801"/>
          </a:xfrm>
          <a:prstGeom prst="roundRect">
            <a:avLst>
              <a:gd name="adj" fmla="val 22229"/>
            </a:avLst>
          </a:prstGeom>
          <a:solidFill>
            <a:srgbClr val="1E73B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501" y="2805038"/>
            <a:ext cx="161851" cy="16185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03214" y="2714625"/>
            <a:ext cx="567375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dashboards in Power BI, Tableau, or Looker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1583199" y="2993926"/>
            <a:ext cx="5704716" cy="60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status, deal pipeline, and client portfolio health in real time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to both leadership and clients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1028650" y="3860477"/>
            <a:ext cx="7982024" cy="1201415"/>
          </a:xfrm>
          <a:prstGeom prst="roundRect">
            <a:avLst>
              <a:gd name="adj" fmla="val 7928"/>
            </a:avLst>
          </a:prstGeom>
          <a:solidFill>
            <a:srgbClr val="F7F9FB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1227088" y="4039815"/>
            <a:ext cx="342801" cy="342801"/>
          </a:xfrm>
          <a:prstGeom prst="roundRect">
            <a:avLst>
              <a:gd name="adj" fmla="val 22229"/>
            </a:avLst>
          </a:prstGeom>
          <a:solidFill>
            <a:srgbClr val="1E73B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501" y="4130228"/>
            <a:ext cx="161851" cy="1618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03214" y="4039815"/>
            <a:ext cx="609186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data layer across all eleven platforms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583199" y="4319116"/>
            <a:ext cx="6110645" cy="601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of truth connecting SourceIN, Valserve Advisors, and !DENTIZE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conflicting reports across tools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1028650" y="5185668"/>
            <a:ext cx="7982024" cy="1201415"/>
          </a:xfrm>
          <a:prstGeom prst="roundRect">
            <a:avLst>
              <a:gd name="adj" fmla="val 7928"/>
            </a:avLst>
          </a:prstGeom>
          <a:solidFill>
            <a:srgbClr val="F7F9FB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1227088" y="5365006"/>
            <a:ext cx="342801" cy="342801"/>
          </a:xfrm>
          <a:prstGeom prst="roundRect">
            <a:avLst>
              <a:gd name="adj" fmla="val 22229"/>
            </a:avLst>
          </a:prstGeom>
          <a:solidFill>
            <a:srgbClr val="1E73B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7501" y="5455419"/>
            <a:ext cx="161851" cy="16185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703214" y="5365006"/>
            <a:ext cx="467198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MIS reporting for retainer clients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583199" y="5644307"/>
            <a:ext cx="4732124" cy="60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monthly PDFs replaced with interactive dashboards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SourceIN clients access directly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1028650" y="6510858"/>
            <a:ext cx="7982024" cy="1201415"/>
          </a:xfrm>
          <a:prstGeom prst="roundRect">
            <a:avLst>
              <a:gd name="adj" fmla="val 7928"/>
            </a:avLst>
          </a:prstGeom>
          <a:solidFill>
            <a:srgbClr val="F7F9FB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227088" y="6690196"/>
            <a:ext cx="342801" cy="342801"/>
          </a:xfrm>
          <a:prstGeom prst="roundRect">
            <a:avLst>
              <a:gd name="adj" fmla="val 22229"/>
            </a:avLst>
          </a:prstGeom>
          <a:solidFill>
            <a:srgbClr val="1E73B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7501" y="6780609"/>
            <a:ext cx="161851" cy="16185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703214" y="6690196"/>
            <a:ext cx="458346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migration on Azure or AWS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583199" y="6969497"/>
            <a:ext cx="4646176" cy="601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Multi-jurisdiction, multi-standard environments supported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beyond legacy tools at your own pace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9277325" y="2535287"/>
            <a:ext cx="7982024" cy="7104062"/>
          </a:xfrm>
          <a:prstGeom prst="roundRect">
            <a:avLst>
              <a:gd name="adj" fmla="val 1877"/>
            </a:avLst>
          </a:prstGeom>
          <a:solidFill>
            <a:srgbClr val="F7F9FB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9"/>
          <p:cNvSpPr/>
          <p:nvPr/>
        </p:nvSpPr>
        <p:spPr>
          <a:xfrm>
            <a:off x="12657062" y="3355330"/>
            <a:ext cx="122254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kern="0" spc="9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9479637" y="4059659"/>
            <a:ext cx="757739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existing source platforms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10493499" y="4313659"/>
            <a:ext cx="694655" cy="342801"/>
          </a:xfrm>
          <a:prstGeom prst="roundRect">
            <a:avLst>
              <a:gd name="adj" fmla="val 22229"/>
            </a:avLst>
          </a:prstGeom>
          <a:solidFill>
            <a:srgbClr val="FFFFFF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2"/>
          <p:cNvSpPr/>
          <p:nvPr/>
        </p:nvSpPr>
        <p:spPr>
          <a:xfrm>
            <a:off x="10672887" y="4397797"/>
            <a:ext cx="412080" cy="212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11264304" y="4313659"/>
            <a:ext cx="1247924" cy="342801"/>
          </a:xfrm>
          <a:prstGeom prst="roundRect">
            <a:avLst>
              <a:gd name="adj" fmla="val 22229"/>
            </a:avLst>
          </a:prstGeom>
          <a:solidFill>
            <a:srgbClr val="FFFFFF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4"/>
          <p:cNvSpPr/>
          <p:nvPr/>
        </p:nvSpPr>
        <p:spPr>
          <a:xfrm>
            <a:off x="11443692" y="4397797"/>
            <a:ext cx="965349" cy="212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QuickBooks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12588378" y="4313659"/>
            <a:ext cx="697508" cy="342801"/>
          </a:xfrm>
          <a:prstGeom prst="roundRect">
            <a:avLst>
              <a:gd name="adj" fmla="val 22229"/>
            </a:avLst>
          </a:prstGeom>
          <a:solidFill>
            <a:srgbClr val="FFFFFF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/>
          <p:nvPr/>
        </p:nvSpPr>
        <p:spPr>
          <a:xfrm>
            <a:off x="12767766" y="4397797"/>
            <a:ext cx="414933" cy="212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Xero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13362037" y="4313659"/>
            <a:ext cx="722933" cy="342801"/>
          </a:xfrm>
          <a:prstGeom prst="roundRect">
            <a:avLst>
              <a:gd name="adj" fmla="val 22229"/>
            </a:avLst>
          </a:prstGeom>
          <a:solidFill>
            <a:srgbClr val="FFFFFF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8"/>
          <p:cNvSpPr/>
          <p:nvPr/>
        </p:nvSpPr>
        <p:spPr>
          <a:xfrm>
            <a:off x="13541424" y="4397797"/>
            <a:ext cx="440358" cy="212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14161119" y="4313659"/>
            <a:ext cx="815950" cy="342801"/>
          </a:xfrm>
          <a:prstGeom prst="roundRect">
            <a:avLst>
              <a:gd name="adj" fmla="val 22229"/>
            </a:avLst>
          </a:prstGeom>
          <a:solidFill>
            <a:srgbClr val="FFFFFF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0"/>
          <p:cNvSpPr/>
          <p:nvPr/>
        </p:nvSpPr>
        <p:spPr>
          <a:xfrm>
            <a:off x="14340507" y="4397797"/>
            <a:ext cx="533375" cy="212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MYOB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15053221" y="4313659"/>
            <a:ext cx="989831" cy="342801"/>
          </a:xfrm>
          <a:prstGeom prst="roundRect">
            <a:avLst>
              <a:gd name="adj" fmla="val 22229"/>
            </a:avLst>
          </a:prstGeom>
          <a:solidFill>
            <a:srgbClr val="FFFFFF"/>
          </a:solidFill>
          <a:ln w="7937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2"/>
          <p:cNvSpPr/>
          <p:nvPr/>
        </p:nvSpPr>
        <p:spPr>
          <a:xfrm>
            <a:off x="15232608" y="4397797"/>
            <a:ext cx="707256" cy="212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 more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9589988" y="5947420"/>
            <a:ext cx="7356698" cy="844228"/>
          </a:xfrm>
          <a:prstGeom prst="roundRect">
            <a:avLst>
              <a:gd name="adj" fmla="val 12411"/>
            </a:avLst>
          </a:prstGeom>
          <a:solidFill>
            <a:srgbClr val="1E73BE"/>
          </a:solidFill>
          <a:ln/>
          <a:effectLst>
            <a:outerShdw blurRad="152400" dist="38100" dir="5400000" algn="bl" rotWithShape="0">
              <a:srgbClr val="1E73BE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35"/>
          <p:cNvSpPr/>
          <p:nvPr/>
        </p:nvSpPr>
        <p:spPr>
          <a:xfrm>
            <a:off x="9700148" y="5991941"/>
            <a:ext cx="714587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500" b="1" kern="0" spc="83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</a:t>
            </a:r>
            <a:endParaRPr lang="en-US" sz="1500" dirty="0"/>
          </a:p>
        </p:txBody>
      </p:sp>
      <p:sp>
        <p:nvSpPr>
          <p:cNvPr id="45" name="Text 36"/>
          <p:cNvSpPr/>
          <p:nvPr/>
        </p:nvSpPr>
        <p:spPr>
          <a:xfrm>
            <a:off x="9700148" y="6170882"/>
            <a:ext cx="7145879" cy="26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Data Layer</a:t>
            </a:r>
            <a:endParaRPr lang="en-US" sz="2000" dirty="0"/>
          </a:p>
        </p:txBody>
      </p:sp>
      <p:sp>
        <p:nvSpPr>
          <p:cNvPr id="46" name="Text 37"/>
          <p:cNvSpPr/>
          <p:nvPr/>
        </p:nvSpPr>
        <p:spPr>
          <a:xfrm>
            <a:off x="9695397" y="6496471"/>
            <a:ext cx="71458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· Validated · Always current</a:t>
            </a:r>
            <a:endParaRPr lang="en-US" sz="15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11224" y="7337227"/>
            <a:ext cx="114226" cy="66601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13263563" y="7403827"/>
            <a:ext cx="9525" cy="1333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11224" y="7537152"/>
            <a:ext cx="114226" cy="66601"/>
          </a:xfrm>
          <a:prstGeom prst="rect">
            <a:avLst/>
          </a:prstGeom>
        </p:spPr>
      </p:pic>
      <p:sp>
        <p:nvSpPr>
          <p:cNvPr id="59" name="Shape 46"/>
          <p:cNvSpPr/>
          <p:nvPr/>
        </p:nvSpPr>
        <p:spPr>
          <a:xfrm>
            <a:off x="1028650" y="9720461"/>
            <a:ext cx="16230699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47"/>
          <p:cNvSpPr/>
          <p:nvPr/>
        </p:nvSpPr>
        <p:spPr>
          <a:xfrm>
            <a:off x="16315779" y="9833074"/>
            <a:ext cx="1019770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350" dirty="0"/>
          </a:p>
        </p:txBody>
      </p:sp>
      <p:pic>
        <p:nvPicPr>
          <p:cNvPr id="65" name="Image 0" descr="preencoded.png">
            <a:extLst>
              <a:ext uri="{FF2B5EF4-FFF2-40B4-BE49-F238E27FC236}">
                <a16:creationId xmlns:a16="http://schemas.microsoft.com/office/drawing/2014/main" id="{12D6D467-9571-A637-5D9A-FA393160E1B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-241319" y="-374200"/>
            <a:ext cx="2997087" cy="2119604"/>
          </a:xfrm>
          <a:prstGeom prst="rect">
            <a:avLst/>
          </a:prstGeom>
        </p:spPr>
      </p:pic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1E33BCCD-3243-4F7D-E836-0D04C6EADFD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3755872" y="362936"/>
            <a:ext cx="4260910" cy="931081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9324E8B5-6976-B09D-49EB-AFBB9E6ECC0F}"/>
              </a:ext>
            </a:extLst>
          </p:cNvPr>
          <p:cNvSpPr/>
          <p:nvPr/>
        </p:nvSpPr>
        <p:spPr>
          <a:xfrm>
            <a:off x="12550443" y="4882761"/>
            <a:ext cx="1470885" cy="844229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Arrow: Down 59">
            <a:extLst>
              <a:ext uri="{FF2B5EF4-FFF2-40B4-BE49-F238E27FC236}">
                <a16:creationId xmlns:a16="http://schemas.microsoft.com/office/drawing/2014/main" id="{8298E5BE-7820-2883-7B5C-9EC723DF1AB9}"/>
              </a:ext>
            </a:extLst>
          </p:cNvPr>
          <p:cNvSpPr/>
          <p:nvPr/>
        </p:nvSpPr>
        <p:spPr>
          <a:xfrm>
            <a:off x="12565183" y="7094732"/>
            <a:ext cx="1470885" cy="844229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44C39B1-62AA-2442-7D72-BB6148CE9B73}"/>
              </a:ext>
            </a:extLst>
          </p:cNvPr>
          <p:cNvGrpSpPr/>
          <p:nvPr/>
        </p:nvGrpSpPr>
        <p:grpSpPr>
          <a:xfrm>
            <a:off x="9479637" y="8409444"/>
            <a:ext cx="7577399" cy="613847"/>
            <a:chOff x="9479637" y="8409444"/>
            <a:chExt cx="7577399" cy="613847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24D01CC-D5E8-7BE1-286B-E7D7636C0D1F}"/>
                </a:ext>
              </a:extLst>
            </p:cNvPr>
            <p:cNvGrpSpPr/>
            <p:nvPr/>
          </p:nvGrpSpPr>
          <p:grpSpPr>
            <a:xfrm>
              <a:off x="10674275" y="8409444"/>
              <a:ext cx="5375524" cy="613847"/>
              <a:chOff x="11286876" y="8149332"/>
              <a:chExt cx="3962921" cy="415851"/>
            </a:xfrm>
          </p:grpSpPr>
          <p:sp>
            <p:nvSpPr>
              <p:cNvPr id="50" name="Shape 39"/>
              <p:cNvSpPr/>
              <p:nvPr/>
            </p:nvSpPr>
            <p:spPr>
              <a:xfrm>
                <a:off x="11286876" y="8149332"/>
                <a:ext cx="1334616" cy="415851"/>
              </a:xfrm>
              <a:prstGeom prst="roundRect">
                <a:avLst>
                  <a:gd name="adj" fmla="val 18324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" name="Text 40"/>
              <p:cNvSpPr/>
              <p:nvPr/>
            </p:nvSpPr>
            <p:spPr>
              <a:xfrm>
                <a:off x="11770940" y="8269882"/>
                <a:ext cx="728316" cy="20478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Power BI</a:t>
                </a:r>
                <a:endParaRPr lang="en-US" sz="1200" dirty="0"/>
              </a:p>
            </p:txBody>
          </p:sp>
          <p:sp>
            <p:nvSpPr>
              <p:cNvPr id="52" name="Shape 41"/>
              <p:cNvSpPr/>
              <p:nvPr/>
            </p:nvSpPr>
            <p:spPr>
              <a:xfrm>
                <a:off x="12716742" y="8149332"/>
                <a:ext cx="1247180" cy="415851"/>
              </a:xfrm>
              <a:prstGeom prst="roundRect">
                <a:avLst>
                  <a:gd name="adj" fmla="val 18324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pic>
            <p:nvPicPr>
              <p:cNvPr id="53" name="Image 9" descr="preencoded.png"/>
              <p:cNvPicPr>
                <a:picLocks noChangeAspect="1"/>
              </p:cNvPicPr>
              <p:nvPr/>
            </p:nvPicPr>
            <p:blipFill>
              <a:blip r:embed="rId10"/>
              <a:srcRect/>
              <a:stretch/>
            </p:blipFill>
            <p:spPr>
              <a:xfrm>
                <a:off x="12915180" y="8252520"/>
                <a:ext cx="209476" cy="209476"/>
              </a:xfrm>
              <a:prstGeom prst="rect">
                <a:avLst/>
              </a:prstGeom>
            </p:spPr>
          </p:pic>
          <p:sp>
            <p:nvSpPr>
              <p:cNvPr id="54" name="Text 42"/>
              <p:cNvSpPr/>
              <p:nvPr/>
            </p:nvSpPr>
            <p:spPr>
              <a:xfrm>
                <a:off x="13200806" y="8269882"/>
                <a:ext cx="640879" cy="20478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Tableau</a:t>
                </a:r>
                <a:endParaRPr lang="en-US" sz="1200" dirty="0"/>
              </a:p>
            </p:txBody>
          </p:sp>
          <p:sp>
            <p:nvSpPr>
              <p:cNvPr id="55" name="Shape 43"/>
              <p:cNvSpPr/>
              <p:nvPr/>
            </p:nvSpPr>
            <p:spPr>
              <a:xfrm>
                <a:off x="14059172" y="8149332"/>
                <a:ext cx="1190625" cy="415851"/>
              </a:xfrm>
              <a:prstGeom prst="roundRect">
                <a:avLst>
                  <a:gd name="adj" fmla="val 18324"/>
                </a:avLst>
              </a:prstGeom>
              <a:solidFill>
                <a:srgbClr val="FFFFFF"/>
              </a:solidFill>
              <a:ln w="7937">
                <a:solidFill>
                  <a:srgbClr val="E2E8F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pic>
            <p:nvPicPr>
              <p:cNvPr id="56" name="Image 10" descr="preencoded.png"/>
              <p:cNvPicPr>
                <a:picLocks noChangeAspect="1"/>
              </p:cNvPicPr>
              <p:nvPr/>
            </p:nvPicPr>
            <p:blipFill>
              <a:blip r:embed="rId11"/>
              <a:srcRect/>
              <a:stretch/>
            </p:blipFill>
            <p:spPr>
              <a:xfrm>
                <a:off x="14257610" y="8252520"/>
                <a:ext cx="209476" cy="209476"/>
              </a:xfrm>
              <a:prstGeom prst="rect">
                <a:avLst/>
              </a:prstGeom>
            </p:spPr>
          </p:pic>
          <p:sp>
            <p:nvSpPr>
              <p:cNvPr id="57" name="Text 44"/>
              <p:cNvSpPr/>
              <p:nvPr/>
            </p:nvSpPr>
            <p:spPr>
              <a:xfrm>
                <a:off x="14543236" y="8269882"/>
                <a:ext cx="584325" cy="20478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1E293B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Looker</a:t>
                </a:r>
                <a:endParaRPr lang="en-US" sz="1200" dirty="0"/>
              </a:p>
            </p:txBody>
          </p:sp>
        </p:grpSp>
        <p:sp>
          <p:nvSpPr>
            <p:cNvPr id="58" name="Text 45"/>
            <p:cNvSpPr/>
            <p:nvPr/>
          </p:nvSpPr>
          <p:spPr>
            <a:xfrm>
              <a:off x="9479637" y="8660432"/>
              <a:ext cx="7577399" cy="196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endParaRPr lang="en-US" sz="1050" dirty="0"/>
            </a:p>
          </p:txBody>
        </p:sp>
        <p:pic>
          <p:nvPicPr>
            <p:cNvPr id="1028" name="Picture 4" descr="Power BI Logo, symbol, meaning, history, PNG, brand">
              <a:extLst>
                <a:ext uri="{FF2B5EF4-FFF2-40B4-BE49-F238E27FC236}">
                  <a16:creationId xmlns:a16="http://schemas.microsoft.com/office/drawing/2014/main" id="{05A649FE-BA39-CA5A-A68E-9707606422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5058" y="8557332"/>
              <a:ext cx="535046" cy="299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F41EAEEF-9067-F7B0-2443-4468571AAA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41319" y="-374200"/>
            <a:ext cx="2997087" cy="2119604"/>
          </a:xfrm>
          <a:prstGeom prst="rect">
            <a:avLst/>
          </a:prstGeom>
        </p:spPr>
      </p:pic>
      <p:pic>
        <p:nvPicPr>
          <p:cNvPr id="66" name="Image 1" descr="preencoded.png">
            <a:extLst>
              <a:ext uri="{FF2B5EF4-FFF2-40B4-BE49-F238E27FC236}">
                <a16:creationId xmlns:a16="http://schemas.microsoft.com/office/drawing/2014/main" id="{A8C737D4-0FAD-49B2-79FA-74045F4CAF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55872" y="362936"/>
            <a:ext cx="4260910" cy="931081"/>
          </a:xfrm>
          <a:prstGeom prst="rect">
            <a:avLst/>
          </a:prstGeom>
        </p:spPr>
      </p:pic>
      <p:sp>
        <p:nvSpPr>
          <p:cNvPr id="54" name="Text 0">
            <a:extLst>
              <a:ext uri="{FF2B5EF4-FFF2-40B4-BE49-F238E27FC236}">
                <a16:creationId xmlns:a16="http://schemas.microsoft.com/office/drawing/2014/main" id="{BE97A4E1-CEA9-B220-2A28-6E5F10BB904D}"/>
              </a:ext>
            </a:extLst>
          </p:cNvPr>
          <p:cNvSpPr/>
          <p:nvPr/>
        </p:nvSpPr>
        <p:spPr>
          <a:xfrm>
            <a:off x="835008" y="2241540"/>
            <a:ext cx="16717620" cy="26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500" b="1" kern="0" spc="180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OPPORTUNITY</a:t>
            </a:r>
            <a:endParaRPr lang="en-US" sz="2500" dirty="0"/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9C68D04F-9656-FB0E-AFCC-E03CE96C1A6B}"/>
              </a:ext>
            </a:extLst>
          </p:cNvPr>
          <p:cNvSpPr/>
          <p:nvPr/>
        </p:nvSpPr>
        <p:spPr>
          <a:xfrm>
            <a:off x="835008" y="2826263"/>
            <a:ext cx="16717620" cy="1179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4200" b="1" kern="0" spc="-92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the AI and data partner your clients do not have yet.</a:t>
            </a:r>
            <a:endParaRPr lang="en-US" sz="4200" dirty="0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D3ABEFC7-48BA-3C87-8FC0-786347F37614}"/>
              </a:ext>
            </a:extLst>
          </p:cNvPr>
          <p:cNvSpPr/>
          <p:nvPr/>
        </p:nvSpPr>
        <p:spPr>
          <a:xfrm>
            <a:off x="1028650" y="2819177"/>
            <a:ext cx="13244513" cy="658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575" dirty="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C5D6FEE-7730-3038-04B1-1C1F6CD25E34}"/>
              </a:ext>
            </a:extLst>
          </p:cNvPr>
          <p:cNvGrpSpPr/>
          <p:nvPr/>
        </p:nvGrpSpPr>
        <p:grpSpPr>
          <a:xfrm>
            <a:off x="829128" y="4160979"/>
            <a:ext cx="16717619" cy="2657366"/>
            <a:chOff x="1028650" y="3610694"/>
            <a:chExt cx="16230574" cy="2433092"/>
          </a:xfrm>
        </p:grpSpPr>
        <p:sp>
          <p:nvSpPr>
            <p:cNvPr id="59" name="Shape 3">
              <a:extLst>
                <a:ext uri="{FF2B5EF4-FFF2-40B4-BE49-F238E27FC236}">
                  <a16:creationId xmlns:a16="http://schemas.microsoft.com/office/drawing/2014/main" id="{C32E5F22-54F4-67CB-39A1-4A511AE0AF5E}"/>
                </a:ext>
              </a:extLst>
            </p:cNvPr>
            <p:cNvSpPr/>
            <p:nvPr/>
          </p:nvSpPr>
          <p:spPr>
            <a:xfrm>
              <a:off x="1028650" y="3610694"/>
              <a:ext cx="5295924" cy="2433092"/>
            </a:xfrm>
            <a:prstGeom prst="roundRect">
              <a:avLst>
                <a:gd name="adj" fmla="val 5089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sp>
          <p:nvSpPr>
            <p:cNvPr id="60" name="Shape 4">
              <a:extLst>
                <a:ext uri="{FF2B5EF4-FFF2-40B4-BE49-F238E27FC236}">
                  <a16:creationId xmlns:a16="http://schemas.microsoft.com/office/drawing/2014/main" id="{7AEDF542-B804-BFDD-C995-4656036EC1EB}"/>
                </a:ext>
              </a:extLst>
            </p:cNvPr>
            <p:cNvSpPr/>
            <p:nvPr/>
          </p:nvSpPr>
          <p:spPr>
            <a:xfrm>
              <a:off x="1265163" y="3866183"/>
              <a:ext cx="323825" cy="323825"/>
            </a:xfrm>
            <a:prstGeom prst="ellipse">
              <a:avLst/>
            </a:prstGeom>
            <a:solidFill>
              <a:srgbClr val="1E73BE"/>
            </a:solidFill>
            <a:ln/>
          </p:spPr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897B8B76-39E0-FE9F-DD3C-C14F577E9683}"/>
                </a:ext>
              </a:extLst>
            </p:cNvPr>
            <p:cNvSpPr/>
            <p:nvPr/>
          </p:nvSpPr>
          <p:spPr>
            <a:xfrm>
              <a:off x="1227063" y="3866183"/>
              <a:ext cx="400025" cy="3619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1125" dirty="0"/>
            </a:p>
          </p:txBody>
        </p:sp>
        <p:sp>
          <p:nvSpPr>
            <p:cNvPr id="62" name="Text 6">
              <a:extLst>
                <a:ext uri="{FF2B5EF4-FFF2-40B4-BE49-F238E27FC236}">
                  <a16:creationId xmlns:a16="http://schemas.microsoft.com/office/drawing/2014/main" id="{00711693-D40C-B07B-08D6-809B23557AE6}"/>
                </a:ext>
              </a:extLst>
            </p:cNvPr>
            <p:cNvSpPr/>
            <p:nvPr/>
          </p:nvSpPr>
          <p:spPr>
            <a:xfrm>
              <a:off x="1265163" y="4304233"/>
              <a:ext cx="4967586" cy="3000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White-Label</a:t>
              </a:r>
              <a:endParaRPr lang="en-US" sz="1800" dirty="0"/>
            </a:p>
          </p:txBody>
        </p:sp>
        <p:sp>
          <p:nvSpPr>
            <p:cNvPr id="63" name="Text 7">
              <a:extLst>
                <a:ext uri="{FF2B5EF4-FFF2-40B4-BE49-F238E27FC236}">
                  <a16:creationId xmlns:a16="http://schemas.microsoft.com/office/drawing/2014/main" id="{E456359C-CEF1-5BAA-2282-FB8751C78EEE}"/>
                </a:ext>
              </a:extLst>
            </p:cNvPr>
            <p:cNvSpPr/>
            <p:nvPr/>
          </p:nvSpPr>
          <p:spPr>
            <a:xfrm>
              <a:off x="1145148" y="4661421"/>
              <a:ext cx="5019114" cy="9165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Agility builds and operates the solution behind the scenes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Your clients see only the Valserve name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Full control over pricing and positioning</a:t>
              </a:r>
              <a:endParaRPr lang="en-US" sz="1350" dirty="0"/>
            </a:p>
          </p:txBody>
        </p:sp>
        <p:sp>
          <p:nvSpPr>
            <p:cNvPr id="65" name="Shape 8">
              <a:extLst>
                <a:ext uri="{FF2B5EF4-FFF2-40B4-BE49-F238E27FC236}">
                  <a16:creationId xmlns:a16="http://schemas.microsoft.com/office/drawing/2014/main" id="{1D0AF9BF-7D65-0AF3-2838-1EE586B4ED73}"/>
                </a:ext>
              </a:extLst>
            </p:cNvPr>
            <p:cNvSpPr/>
            <p:nvPr/>
          </p:nvSpPr>
          <p:spPr>
            <a:xfrm>
              <a:off x="6495976" y="3610694"/>
              <a:ext cx="5295924" cy="2433092"/>
            </a:xfrm>
            <a:prstGeom prst="roundRect">
              <a:avLst>
                <a:gd name="adj" fmla="val 5089"/>
              </a:avLst>
            </a:prstGeom>
            <a:solidFill>
              <a:srgbClr val="1E73BE">
                <a:alpha val="4000"/>
              </a:srgbClr>
            </a:solidFill>
            <a:ln w="7937">
              <a:solidFill>
                <a:srgbClr val="1E73BE">
                  <a:alpha val="28000"/>
                </a:srgbClr>
              </a:solidFill>
              <a:prstDash val="solid"/>
            </a:ln>
          </p:spPr>
        </p:sp>
        <p:sp>
          <p:nvSpPr>
            <p:cNvPr id="67" name="Shape 9">
              <a:extLst>
                <a:ext uri="{FF2B5EF4-FFF2-40B4-BE49-F238E27FC236}">
                  <a16:creationId xmlns:a16="http://schemas.microsoft.com/office/drawing/2014/main" id="{FF02044A-717D-51AF-62CE-149FBBCA8495}"/>
                </a:ext>
              </a:extLst>
            </p:cNvPr>
            <p:cNvSpPr/>
            <p:nvPr/>
          </p:nvSpPr>
          <p:spPr>
            <a:xfrm>
              <a:off x="6732488" y="3866183"/>
              <a:ext cx="323825" cy="323825"/>
            </a:xfrm>
            <a:prstGeom prst="ellipse">
              <a:avLst/>
            </a:prstGeom>
            <a:solidFill>
              <a:srgbClr val="1E73BE"/>
            </a:solidFill>
            <a:ln/>
          </p:spPr>
        </p:sp>
        <p:sp>
          <p:nvSpPr>
            <p:cNvPr id="68" name="Text 10">
              <a:extLst>
                <a:ext uri="{FF2B5EF4-FFF2-40B4-BE49-F238E27FC236}">
                  <a16:creationId xmlns:a16="http://schemas.microsoft.com/office/drawing/2014/main" id="{1480EE5B-9B0A-97C2-1FB8-D5FA8E304E87}"/>
                </a:ext>
              </a:extLst>
            </p:cNvPr>
            <p:cNvSpPr/>
            <p:nvPr/>
          </p:nvSpPr>
          <p:spPr>
            <a:xfrm>
              <a:off x="6694388" y="3866183"/>
              <a:ext cx="400025" cy="3619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1125" dirty="0"/>
            </a:p>
          </p:txBody>
        </p:sp>
        <p:sp>
          <p:nvSpPr>
            <p:cNvPr id="69" name="Text 11">
              <a:extLst>
                <a:ext uri="{FF2B5EF4-FFF2-40B4-BE49-F238E27FC236}">
                  <a16:creationId xmlns:a16="http://schemas.microsoft.com/office/drawing/2014/main" id="{A17CB429-490D-AF1C-561F-F7EACBB75B22}"/>
                </a:ext>
              </a:extLst>
            </p:cNvPr>
            <p:cNvSpPr/>
            <p:nvPr/>
          </p:nvSpPr>
          <p:spPr>
            <a:xfrm>
              <a:off x="6732488" y="4304233"/>
              <a:ext cx="4967586" cy="3000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Co-Branded Delivery</a:t>
              </a:r>
              <a:endParaRPr lang="en-US" sz="1800" dirty="0"/>
            </a:p>
          </p:txBody>
        </p:sp>
        <p:sp>
          <p:nvSpPr>
            <p:cNvPr id="70" name="Text 12">
              <a:extLst>
                <a:ext uri="{FF2B5EF4-FFF2-40B4-BE49-F238E27FC236}">
                  <a16:creationId xmlns:a16="http://schemas.microsoft.com/office/drawing/2014/main" id="{F5C94E4E-62DB-4459-2F9B-D15D46CDE81D}"/>
                </a:ext>
              </a:extLst>
            </p:cNvPr>
            <p:cNvSpPr/>
            <p:nvPr/>
          </p:nvSpPr>
          <p:spPr>
            <a:xfrm>
              <a:off x="6612473" y="4661421"/>
              <a:ext cx="5019114" cy="116497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Joint Agility and Valserve engagement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Present together, deliver together, share the commercial outcome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Strongest capability signal to the client</a:t>
              </a:r>
              <a:endParaRPr lang="en-US" sz="1350" dirty="0"/>
            </a:p>
          </p:txBody>
        </p:sp>
        <p:sp>
          <p:nvSpPr>
            <p:cNvPr id="71" name="Shape 13">
              <a:extLst>
                <a:ext uri="{FF2B5EF4-FFF2-40B4-BE49-F238E27FC236}">
                  <a16:creationId xmlns:a16="http://schemas.microsoft.com/office/drawing/2014/main" id="{67289FC4-C04F-6DBF-D8B1-3FB112EAA365}"/>
                </a:ext>
              </a:extLst>
            </p:cNvPr>
            <p:cNvSpPr/>
            <p:nvPr/>
          </p:nvSpPr>
          <p:spPr>
            <a:xfrm>
              <a:off x="11963300" y="3610694"/>
              <a:ext cx="5295924" cy="2433092"/>
            </a:xfrm>
            <a:prstGeom prst="roundRect">
              <a:avLst>
                <a:gd name="adj" fmla="val 5089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sp>
          <p:nvSpPr>
            <p:cNvPr id="72" name="Shape 14">
              <a:extLst>
                <a:ext uri="{FF2B5EF4-FFF2-40B4-BE49-F238E27FC236}">
                  <a16:creationId xmlns:a16="http://schemas.microsoft.com/office/drawing/2014/main" id="{D2173210-06D5-36EB-5C5F-29065AA1F259}"/>
                </a:ext>
              </a:extLst>
            </p:cNvPr>
            <p:cNvSpPr/>
            <p:nvPr/>
          </p:nvSpPr>
          <p:spPr>
            <a:xfrm>
              <a:off x="12199813" y="3866183"/>
              <a:ext cx="323825" cy="323825"/>
            </a:xfrm>
            <a:prstGeom prst="ellipse">
              <a:avLst/>
            </a:prstGeom>
            <a:solidFill>
              <a:srgbClr val="1E73BE"/>
            </a:solidFill>
            <a:ln/>
          </p:spPr>
        </p:sp>
        <p:sp>
          <p:nvSpPr>
            <p:cNvPr id="73" name="Text 15">
              <a:extLst>
                <a:ext uri="{FF2B5EF4-FFF2-40B4-BE49-F238E27FC236}">
                  <a16:creationId xmlns:a16="http://schemas.microsoft.com/office/drawing/2014/main" id="{85C8618F-6554-2812-852E-AFA0C2BBDC66}"/>
                </a:ext>
              </a:extLst>
            </p:cNvPr>
            <p:cNvSpPr/>
            <p:nvPr/>
          </p:nvSpPr>
          <p:spPr>
            <a:xfrm>
              <a:off x="12161713" y="3866183"/>
              <a:ext cx="400025" cy="3619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2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1125" dirty="0"/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9F9B5DCD-C92C-6CB4-0A80-46BF43BADABB}"/>
                </a:ext>
              </a:extLst>
            </p:cNvPr>
            <p:cNvSpPr/>
            <p:nvPr/>
          </p:nvSpPr>
          <p:spPr>
            <a:xfrm>
              <a:off x="12199813" y="4304233"/>
              <a:ext cx="4967586" cy="3000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Referral</a:t>
              </a:r>
              <a:endParaRPr lang="en-US" sz="1800" dirty="0"/>
            </a:p>
          </p:txBody>
        </p:sp>
        <p:sp>
          <p:nvSpPr>
            <p:cNvPr id="75" name="Text 17">
              <a:extLst>
                <a:ext uri="{FF2B5EF4-FFF2-40B4-BE49-F238E27FC236}">
                  <a16:creationId xmlns:a16="http://schemas.microsoft.com/office/drawing/2014/main" id="{93D6F45B-42AA-5175-43F2-5621B2F3ED43}"/>
                </a:ext>
              </a:extLst>
            </p:cNvPr>
            <p:cNvSpPr/>
            <p:nvPr/>
          </p:nvSpPr>
          <p:spPr>
            <a:xfrm>
              <a:off x="12079798" y="4661421"/>
              <a:ext cx="5019114" cy="9165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You identify the need and make the introduction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Agility handles scoping, delivery, and client management</a:t>
              </a:r>
              <a:endParaRPr lang="en-US" sz="1350" dirty="0"/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1350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You receive a revenue share on every engagement</a:t>
              </a:r>
              <a:endParaRPr lang="en-US" sz="1350" dirty="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A95854A-DCAB-60CF-898F-5EFF8CE00104}"/>
              </a:ext>
            </a:extLst>
          </p:cNvPr>
          <p:cNvGrpSpPr/>
          <p:nvPr/>
        </p:nvGrpSpPr>
        <p:grpSpPr>
          <a:xfrm>
            <a:off x="329198" y="7423451"/>
            <a:ext cx="20521817" cy="1990764"/>
            <a:chOff x="1028650" y="6178192"/>
            <a:chExt cx="16722342" cy="1165439"/>
          </a:xfrm>
        </p:grpSpPr>
        <p:sp>
          <p:nvSpPr>
            <p:cNvPr id="76" name="Text 18">
              <a:extLst>
                <a:ext uri="{FF2B5EF4-FFF2-40B4-BE49-F238E27FC236}">
                  <a16:creationId xmlns:a16="http://schemas.microsoft.com/office/drawing/2014/main" id="{1FEFF3C7-6EA6-6AC9-8EE8-A740554866F2}"/>
                </a:ext>
              </a:extLst>
            </p:cNvPr>
            <p:cNvSpPr/>
            <p:nvPr/>
          </p:nvSpPr>
          <p:spPr>
            <a:xfrm>
              <a:off x="1033372" y="6178192"/>
              <a:ext cx="16717620" cy="196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kern="0" spc="63" dirty="0">
                  <a:solidFill>
                    <a:srgbClr val="0B122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INDUSTRIES WE CAN TARGET</a:t>
              </a:r>
            </a:p>
            <a:p>
              <a:pPr marL="0" indent="0" algn="l">
                <a:buNone/>
              </a:pPr>
              <a:endParaRPr lang="en-US" sz="1500" b="1" dirty="0"/>
            </a:p>
          </p:txBody>
        </p:sp>
        <p:sp>
          <p:nvSpPr>
            <p:cNvPr id="77" name="Shape 19">
              <a:extLst>
                <a:ext uri="{FF2B5EF4-FFF2-40B4-BE49-F238E27FC236}">
                  <a16:creationId xmlns:a16="http://schemas.microsoft.com/office/drawing/2014/main" id="{0C2B7387-5B10-ABF0-D65F-60E07B6B7374}"/>
                </a:ext>
              </a:extLst>
            </p:cNvPr>
            <p:cNvSpPr/>
            <p:nvPr/>
          </p:nvSpPr>
          <p:spPr>
            <a:xfrm>
              <a:off x="1028650" y="6526237"/>
              <a:ext cx="1797472" cy="355451"/>
            </a:xfrm>
            <a:prstGeom prst="roundRect">
              <a:avLst>
                <a:gd name="adj" fmla="val 50000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pic>
          <p:nvPicPr>
            <p:cNvPr id="78" name="Image 2" descr="preencoded.png">
              <a:extLst>
                <a:ext uri="{FF2B5EF4-FFF2-40B4-BE49-F238E27FC236}">
                  <a16:creationId xmlns:a16="http://schemas.microsoft.com/office/drawing/2014/main" id="{B943DF4D-CAE7-FE6D-D119-0CF64243C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88889" y="6632525"/>
              <a:ext cx="142875" cy="142875"/>
            </a:xfrm>
            <a:prstGeom prst="rect">
              <a:avLst/>
            </a:prstGeom>
          </p:spPr>
        </p:pic>
        <p:sp>
          <p:nvSpPr>
            <p:cNvPr id="79" name="Text 20">
              <a:extLst>
                <a:ext uri="{FF2B5EF4-FFF2-40B4-BE49-F238E27FC236}">
                  <a16:creationId xmlns:a16="http://schemas.microsoft.com/office/drawing/2014/main" id="{26DAF92F-82C8-2C35-BC7F-24B1AAF349DC}"/>
                </a:ext>
              </a:extLst>
            </p:cNvPr>
            <p:cNvSpPr/>
            <p:nvPr/>
          </p:nvSpPr>
          <p:spPr>
            <a:xfrm>
              <a:off x="1414384" y="6662205"/>
              <a:ext cx="1343720" cy="2365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Pharmaceutical</a:t>
              </a:r>
              <a:endParaRPr lang="en-US" sz="1350" dirty="0"/>
            </a:p>
          </p:txBody>
        </p:sp>
        <p:sp>
          <p:nvSpPr>
            <p:cNvPr id="80" name="Shape 21">
              <a:extLst>
                <a:ext uri="{FF2B5EF4-FFF2-40B4-BE49-F238E27FC236}">
                  <a16:creationId xmlns:a16="http://schemas.microsoft.com/office/drawing/2014/main" id="{24ED6E7B-813B-0D49-5836-0526B2C1D533}"/>
                </a:ext>
              </a:extLst>
            </p:cNvPr>
            <p:cNvSpPr/>
            <p:nvPr/>
          </p:nvSpPr>
          <p:spPr>
            <a:xfrm>
              <a:off x="2911822" y="6526237"/>
              <a:ext cx="2469927" cy="355451"/>
            </a:xfrm>
            <a:prstGeom prst="roundRect">
              <a:avLst>
                <a:gd name="adj" fmla="val 50000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pic>
          <p:nvPicPr>
            <p:cNvPr id="81" name="Image 3" descr="preencoded.png">
              <a:extLst>
                <a:ext uri="{FF2B5EF4-FFF2-40B4-BE49-F238E27FC236}">
                  <a16:creationId xmlns:a16="http://schemas.microsoft.com/office/drawing/2014/main" id="{42FEE224-3B32-E4B7-0C7B-469BE3580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72060" y="6632525"/>
              <a:ext cx="142875" cy="142875"/>
            </a:xfrm>
            <a:prstGeom prst="rect">
              <a:avLst/>
            </a:prstGeom>
          </p:spPr>
        </p:pic>
        <p:sp>
          <p:nvSpPr>
            <p:cNvPr id="82" name="Text 22">
              <a:extLst>
                <a:ext uri="{FF2B5EF4-FFF2-40B4-BE49-F238E27FC236}">
                  <a16:creationId xmlns:a16="http://schemas.microsoft.com/office/drawing/2014/main" id="{0089DD01-D063-FD30-6ADF-A7BBECEA538E}"/>
                </a:ext>
              </a:extLst>
            </p:cNvPr>
            <p:cNvSpPr/>
            <p:nvPr/>
          </p:nvSpPr>
          <p:spPr>
            <a:xfrm>
              <a:off x="3371156" y="6654935"/>
              <a:ext cx="2016174" cy="2365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Information Technology</a:t>
              </a:r>
              <a:endParaRPr lang="en-US" sz="1350" dirty="0"/>
            </a:p>
          </p:txBody>
        </p:sp>
        <p:sp>
          <p:nvSpPr>
            <p:cNvPr id="83" name="Shape 23">
              <a:extLst>
                <a:ext uri="{FF2B5EF4-FFF2-40B4-BE49-F238E27FC236}">
                  <a16:creationId xmlns:a16="http://schemas.microsoft.com/office/drawing/2014/main" id="{24B85C33-5F55-64E1-C29D-88C016D5FD0D}"/>
                </a:ext>
              </a:extLst>
            </p:cNvPr>
            <p:cNvSpPr/>
            <p:nvPr/>
          </p:nvSpPr>
          <p:spPr>
            <a:xfrm>
              <a:off x="5467449" y="6526237"/>
              <a:ext cx="1292324" cy="355451"/>
            </a:xfrm>
            <a:prstGeom prst="roundRect">
              <a:avLst>
                <a:gd name="adj" fmla="val 50000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pic>
          <p:nvPicPr>
            <p:cNvPr id="84" name="Image 4" descr="preencoded.png">
              <a:extLst>
                <a:ext uri="{FF2B5EF4-FFF2-40B4-BE49-F238E27FC236}">
                  <a16:creationId xmlns:a16="http://schemas.microsoft.com/office/drawing/2014/main" id="{585A8418-8F48-36B4-36C6-468A34E5F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27687" y="6632525"/>
              <a:ext cx="142875" cy="142875"/>
            </a:xfrm>
            <a:prstGeom prst="rect">
              <a:avLst/>
            </a:prstGeom>
          </p:spPr>
        </p:pic>
        <p:sp>
          <p:nvSpPr>
            <p:cNvPr id="85" name="Text 24">
              <a:extLst>
                <a:ext uri="{FF2B5EF4-FFF2-40B4-BE49-F238E27FC236}">
                  <a16:creationId xmlns:a16="http://schemas.microsoft.com/office/drawing/2014/main" id="{121B1AA1-0F26-3D56-1488-DEF3BED23327}"/>
                </a:ext>
              </a:extLst>
            </p:cNvPr>
            <p:cNvSpPr/>
            <p:nvPr/>
          </p:nvSpPr>
          <p:spPr>
            <a:xfrm>
              <a:off x="5845881" y="6654935"/>
              <a:ext cx="838572" cy="2365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Chemical</a:t>
              </a:r>
              <a:endParaRPr lang="en-US" sz="1350" dirty="0"/>
            </a:p>
          </p:txBody>
        </p:sp>
        <p:sp>
          <p:nvSpPr>
            <p:cNvPr id="86" name="Shape 25">
              <a:extLst>
                <a:ext uri="{FF2B5EF4-FFF2-40B4-BE49-F238E27FC236}">
                  <a16:creationId xmlns:a16="http://schemas.microsoft.com/office/drawing/2014/main" id="{E69927CA-9952-6413-A90D-78DE5B974329}"/>
                </a:ext>
              </a:extLst>
            </p:cNvPr>
            <p:cNvSpPr/>
            <p:nvPr/>
          </p:nvSpPr>
          <p:spPr>
            <a:xfrm>
              <a:off x="6845473" y="6526237"/>
              <a:ext cx="1692176" cy="355451"/>
            </a:xfrm>
            <a:prstGeom prst="roundRect">
              <a:avLst>
                <a:gd name="adj" fmla="val 50000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pic>
          <p:nvPicPr>
            <p:cNvPr id="87" name="Image 5" descr="preencoded.png">
              <a:extLst>
                <a:ext uri="{FF2B5EF4-FFF2-40B4-BE49-F238E27FC236}">
                  <a16:creationId xmlns:a16="http://schemas.microsoft.com/office/drawing/2014/main" id="{DA756196-D5E5-3AAA-ECCC-9E5262B3D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05712" y="6632525"/>
              <a:ext cx="142875" cy="142875"/>
            </a:xfrm>
            <a:prstGeom prst="rect">
              <a:avLst/>
            </a:prstGeom>
          </p:spPr>
        </p:pic>
        <p:sp>
          <p:nvSpPr>
            <p:cNvPr id="88" name="Text 26">
              <a:extLst>
                <a:ext uri="{FF2B5EF4-FFF2-40B4-BE49-F238E27FC236}">
                  <a16:creationId xmlns:a16="http://schemas.microsoft.com/office/drawing/2014/main" id="{AE27D50F-9ED7-9E44-A2D0-00B855CBDD71}"/>
                </a:ext>
              </a:extLst>
            </p:cNvPr>
            <p:cNvSpPr/>
            <p:nvPr/>
          </p:nvSpPr>
          <p:spPr>
            <a:xfrm>
              <a:off x="7299226" y="6645150"/>
              <a:ext cx="1238423" cy="2365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Capital Goods</a:t>
              </a:r>
              <a:endParaRPr lang="en-US" sz="1350" dirty="0"/>
            </a:p>
          </p:txBody>
        </p:sp>
        <p:sp>
          <p:nvSpPr>
            <p:cNvPr id="89" name="Shape 27">
              <a:extLst>
                <a:ext uri="{FF2B5EF4-FFF2-40B4-BE49-F238E27FC236}">
                  <a16:creationId xmlns:a16="http://schemas.microsoft.com/office/drawing/2014/main" id="{C1DD0098-3558-D948-FB66-4F0C2F9188D5}"/>
                </a:ext>
              </a:extLst>
            </p:cNvPr>
            <p:cNvSpPr/>
            <p:nvPr/>
          </p:nvSpPr>
          <p:spPr>
            <a:xfrm>
              <a:off x="8623349" y="6526237"/>
              <a:ext cx="2026295" cy="355451"/>
            </a:xfrm>
            <a:prstGeom prst="roundRect">
              <a:avLst>
                <a:gd name="adj" fmla="val 50000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pic>
          <p:nvPicPr>
            <p:cNvPr id="90" name="Image 6" descr="preencoded.png">
              <a:extLst>
                <a:ext uri="{FF2B5EF4-FFF2-40B4-BE49-F238E27FC236}">
                  <a16:creationId xmlns:a16="http://schemas.microsoft.com/office/drawing/2014/main" id="{3E88593E-D685-0CD8-6FF9-69471902C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783588" y="6632525"/>
              <a:ext cx="142875" cy="142875"/>
            </a:xfrm>
            <a:prstGeom prst="rect">
              <a:avLst/>
            </a:prstGeom>
          </p:spPr>
        </p:pic>
        <p:sp>
          <p:nvSpPr>
            <p:cNvPr id="91" name="Text 28">
              <a:extLst>
                <a:ext uri="{FF2B5EF4-FFF2-40B4-BE49-F238E27FC236}">
                  <a16:creationId xmlns:a16="http://schemas.microsoft.com/office/drawing/2014/main" id="{E09AACF4-1A9C-E71F-2444-A5A21708AFBF}"/>
                </a:ext>
              </a:extLst>
            </p:cNvPr>
            <p:cNvSpPr/>
            <p:nvPr/>
          </p:nvSpPr>
          <p:spPr>
            <a:xfrm>
              <a:off x="8993063" y="6654935"/>
              <a:ext cx="1572543" cy="2365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Financial Services</a:t>
              </a:r>
              <a:endParaRPr lang="en-US" sz="1350" dirty="0"/>
            </a:p>
          </p:txBody>
        </p:sp>
        <p:sp>
          <p:nvSpPr>
            <p:cNvPr id="92" name="Shape 29">
              <a:extLst>
                <a:ext uri="{FF2B5EF4-FFF2-40B4-BE49-F238E27FC236}">
                  <a16:creationId xmlns:a16="http://schemas.microsoft.com/office/drawing/2014/main" id="{4B9E7E15-41C0-1410-3EDD-836B3108EC24}"/>
                </a:ext>
              </a:extLst>
            </p:cNvPr>
            <p:cNvSpPr/>
            <p:nvPr/>
          </p:nvSpPr>
          <p:spPr>
            <a:xfrm>
              <a:off x="10735345" y="6526237"/>
              <a:ext cx="1711027" cy="355451"/>
            </a:xfrm>
            <a:prstGeom prst="roundRect">
              <a:avLst>
                <a:gd name="adj" fmla="val 50000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pic>
          <p:nvPicPr>
            <p:cNvPr id="93" name="Image 7" descr="preencoded.png">
              <a:extLst>
                <a:ext uri="{FF2B5EF4-FFF2-40B4-BE49-F238E27FC236}">
                  <a16:creationId xmlns:a16="http://schemas.microsoft.com/office/drawing/2014/main" id="{1F16615D-F840-52F5-7558-83E858F6C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895583" y="6632525"/>
              <a:ext cx="142875" cy="142875"/>
            </a:xfrm>
            <a:prstGeom prst="rect">
              <a:avLst/>
            </a:prstGeom>
          </p:spPr>
        </p:pic>
        <p:sp>
          <p:nvSpPr>
            <p:cNvPr id="94" name="Text 30">
              <a:extLst>
                <a:ext uri="{FF2B5EF4-FFF2-40B4-BE49-F238E27FC236}">
                  <a16:creationId xmlns:a16="http://schemas.microsoft.com/office/drawing/2014/main" id="{D2FDEE24-AA72-3587-60BC-D7A85D04D00E}"/>
                </a:ext>
              </a:extLst>
            </p:cNvPr>
            <p:cNvSpPr/>
            <p:nvPr/>
          </p:nvSpPr>
          <p:spPr>
            <a:xfrm>
              <a:off x="11105058" y="6654935"/>
              <a:ext cx="1257276" cy="2365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Manufacturing</a:t>
              </a:r>
              <a:endParaRPr lang="en-US" sz="1350" dirty="0"/>
            </a:p>
          </p:txBody>
        </p:sp>
        <p:sp>
          <p:nvSpPr>
            <p:cNvPr id="95" name="Shape 31">
              <a:extLst>
                <a:ext uri="{FF2B5EF4-FFF2-40B4-BE49-F238E27FC236}">
                  <a16:creationId xmlns:a16="http://schemas.microsoft.com/office/drawing/2014/main" id="{90596F46-7359-8098-5EB6-94CBFA2DEA10}"/>
                </a:ext>
              </a:extLst>
            </p:cNvPr>
            <p:cNvSpPr/>
            <p:nvPr/>
          </p:nvSpPr>
          <p:spPr>
            <a:xfrm>
              <a:off x="12532072" y="6526237"/>
              <a:ext cx="1454423" cy="355451"/>
            </a:xfrm>
            <a:prstGeom prst="roundRect">
              <a:avLst>
                <a:gd name="adj" fmla="val 50000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pic>
          <p:nvPicPr>
            <p:cNvPr id="96" name="Image 8" descr="preencoded.png">
              <a:extLst>
                <a:ext uri="{FF2B5EF4-FFF2-40B4-BE49-F238E27FC236}">
                  <a16:creationId xmlns:a16="http://schemas.microsoft.com/office/drawing/2014/main" id="{380CE34D-7D99-16D8-A473-771DA3B40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692310" y="6632525"/>
              <a:ext cx="142875" cy="142875"/>
            </a:xfrm>
            <a:prstGeom prst="rect">
              <a:avLst/>
            </a:prstGeom>
          </p:spPr>
        </p:pic>
        <p:sp>
          <p:nvSpPr>
            <p:cNvPr id="97" name="Text 32">
              <a:extLst>
                <a:ext uri="{FF2B5EF4-FFF2-40B4-BE49-F238E27FC236}">
                  <a16:creationId xmlns:a16="http://schemas.microsoft.com/office/drawing/2014/main" id="{874C5E6C-C6EC-DE55-30EC-FD3CEC08F3F4}"/>
                </a:ext>
              </a:extLst>
            </p:cNvPr>
            <p:cNvSpPr/>
            <p:nvPr/>
          </p:nvSpPr>
          <p:spPr>
            <a:xfrm>
              <a:off x="12901786" y="6646682"/>
              <a:ext cx="1000670" cy="2365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Real Estate</a:t>
              </a:r>
              <a:endParaRPr lang="en-US" sz="1350" dirty="0"/>
            </a:p>
          </p:txBody>
        </p:sp>
        <p:sp>
          <p:nvSpPr>
            <p:cNvPr id="98" name="Shape 33">
              <a:extLst>
                <a:ext uri="{FF2B5EF4-FFF2-40B4-BE49-F238E27FC236}">
                  <a16:creationId xmlns:a16="http://schemas.microsoft.com/office/drawing/2014/main" id="{6F6377F4-DD07-7BD1-7A87-CADA22E46CB2}"/>
                </a:ext>
              </a:extLst>
            </p:cNvPr>
            <p:cNvSpPr/>
            <p:nvPr/>
          </p:nvSpPr>
          <p:spPr>
            <a:xfrm>
              <a:off x="14072195" y="6526237"/>
              <a:ext cx="1406798" cy="355451"/>
            </a:xfrm>
            <a:prstGeom prst="roundRect">
              <a:avLst>
                <a:gd name="adj" fmla="val 50000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pic>
          <p:nvPicPr>
            <p:cNvPr id="99" name="Image 9" descr="preencoded.png">
              <a:extLst>
                <a:ext uri="{FF2B5EF4-FFF2-40B4-BE49-F238E27FC236}">
                  <a16:creationId xmlns:a16="http://schemas.microsoft.com/office/drawing/2014/main" id="{2738F24F-CE29-D632-FCEA-428E033D2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232434" y="6632525"/>
              <a:ext cx="142875" cy="142875"/>
            </a:xfrm>
            <a:prstGeom prst="rect">
              <a:avLst/>
            </a:prstGeom>
          </p:spPr>
        </p:pic>
        <p:sp>
          <p:nvSpPr>
            <p:cNvPr id="100" name="Text 34">
              <a:extLst>
                <a:ext uri="{FF2B5EF4-FFF2-40B4-BE49-F238E27FC236}">
                  <a16:creationId xmlns:a16="http://schemas.microsoft.com/office/drawing/2014/main" id="{EB581B67-E76F-BDBE-6A3A-8CA54ACAE2A4}"/>
                </a:ext>
              </a:extLst>
            </p:cNvPr>
            <p:cNvSpPr/>
            <p:nvPr/>
          </p:nvSpPr>
          <p:spPr>
            <a:xfrm>
              <a:off x="14441909" y="6654935"/>
              <a:ext cx="953045" cy="2365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Healthcare</a:t>
              </a:r>
              <a:endParaRPr lang="en-US" sz="1350" dirty="0"/>
            </a:p>
          </p:txBody>
        </p:sp>
        <p:sp>
          <p:nvSpPr>
            <p:cNvPr id="101" name="Shape 35">
              <a:extLst>
                <a:ext uri="{FF2B5EF4-FFF2-40B4-BE49-F238E27FC236}">
                  <a16:creationId xmlns:a16="http://schemas.microsoft.com/office/drawing/2014/main" id="{5F934331-337E-70DF-0D15-5317F881AC06}"/>
                </a:ext>
              </a:extLst>
            </p:cNvPr>
            <p:cNvSpPr/>
            <p:nvPr/>
          </p:nvSpPr>
          <p:spPr>
            <a:xfrm>
              <a:off x="1028650" y="6967389"/>
              <a:ext cx="1968376" cy="355451"/>
            </a:xfrm>
            <a:prstGeom prst="roundRect">
              <a:avLst>
                <a:gd name="adj" fmla="val 50000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pic>
          <p:nvPicPr>
            <p:cNvPr id="102" name="Image 10" descr="preencoded.png">
              <a:extLst>
                <a:ext uri="{FF2B5EF4-FFF2-40B4-BE49-F238E27FC236}">
                  <a16:creationId xmlns:a16="http://schemas.microsoft.com/office/drawing/2014/main" id="{A85C114D-FFEF-E6DF-F176-6367B0F1C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88889" y="7073676"/>
              <a:ext cx="142875" cy="142875"/>
            </a:xfrm>
            <a:prstGeom prst="rect">
              <a:avLst/>
            </a:prstGeom>
          </p:spPr>
        </p:pic>
        <p:sp>
          <p:nvSpPr>
            <p:cNvPr id="103" name="Text 36">
              <a:extLst>
                <a:ext uri="{FF2B5EF4-FFF2-40B4-BE49-F238E27FC236}">
                  <a16:creationId xmlns:a16="http://schemas.microsoft.com/office/drawing/2014/main" id="{E7779A07-C155-6A70-071D-82A6982A7823}"/>
                </a:ext>
              </a:extLst>
            </p:cNvPr>
            <p:cNvSpPr/>
            <p:nvPr/>
          </p:nvSpPr>
          <p:spPr>
            <a:xfrm>
              <a:off x="1436021" y="7097029"/>
              <a:ext cx="1514624" cy="2365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Consumer Goods</a:t>
              </a:r>
              <a:endParaRPr lang="en-US" sz="1350" dirty="0"/>
            </a:p>
          </p:txBody>
        </p:sp>
        <p:sp>
          <p:nvSpPr>
            <p:cNvPr id="104" name="Shape 37">
              <a:extLst>
                <a:ext uri="{FF2B5EF4-FFF2-40B4-BE49-F238E27FC236}">
                  <a16:creationId xmlns:a16="http://schemas.microsoft.com/office/drawing/2014/main" id="{F28916C4-7A63-7A49-E84A-C7864C94D895}"/>
                </a:ext>
              </a:extLst>
            </p:cNvPr>
            <p:cNvSpPr/>
            <p:nvPr/>
          </p:nvSpPr>
          <p:spPr>
            <a:xfrm>
              <a:off x="3082726" y="6967389"/>
              <a:ext cx="1282650" cy="355451"/>
            </a:xfrm>
            <a:prstGeom prst="roundRect">
              <a:avLst>
                <a:gd name="adj" fmla="val 50000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pic>
          <p:nvPicPr>
            <p:cNvPr id="105" name="Image 11" descr="preencoded.png">
              <a:extLst>
                <a:ext uri="{FF2B5EF4-FFF2-40B4-BE49-F238E27FC236}">
                  <a16:creationId xmlns:a16="http://schemas.microsoft.com/office/drawing/2014/main" id="{4F470D63-AE72-A48B-EB75-B7E5A37E4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242965" y="7073676"/>
              <a:ext cx="142875" cy="142875"/>
            </a:xfrm>
            <a:prstGeom prst="rect">
              <a:avLst/>
            </a:prstGeom>
          </p:spPr>
        </p:pic>
        <p:sp>
          <p:nvSpPr>
            <p:cNvPr id="106" name="Text 38">
              <a:extLst>
                <a:ext uri="{FF2B5EF4-FFF2-40B4-BE49-F238E27FC236}">
                  <a16:creationId xmlns:a16="http://schemas.microsoft.com/office/drawing/2014/main" id="{14E93C34-02BC-9FE2-48A7-1E3458A000C3}"/>
                </a:ext>
              </a:extLst>
            </p:cNvPr>
            <p:cNvSpPr/>
            <p:nvPr/>
          </p:nvSpPr>
          <p:spPr>
            <a:xfrm>
              <a:off x="3490097" y="7098212"/>
              <a:ext cx="828898" cy="2365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Logistics</a:t>
              </a:r>
              <a:endParaRPr lang="en-US" sz="1350" dirty="0"/>
            </a:p>
          </p:txBody>
        </p:sp>
        <p:sp>
          <p:nvSpPr>
            <p:cNvPr id="107" name="Shape 39">
              <a:extLst>
                <a:ext uri="{FF2B5EF4-FFF2-40B4-BE49-F238E27FC236}">
                  <a16:creationId xmlns:a16="http://schemas.microsoft.com/office/drawing/2014/main" id="{DBFFE763-DB97-3D6F-B302-B9179F266ECE}"/>
                </a:ext>
              </a:extLst>
            </p:cNvPr>
            <p:cNvSpPr/>
            <p:nvPr/>
          </p:nvSpPr>
          <p:spPr>
            <a:xfrm>
              <a:off x="4451077" y="6967389"/>
              <a:ext cx="1111250" cy="355451"/>
            </a:xfrm>
            <a:prstGeom prst="roundRect">
              <a:avLst>
                <a:gd name="adj" fmla="val 50000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pic>
          <p:nvPicPr>
            <p:cNvPr id="108" name="Image 12" descr="preencoded.png">
              <a:extLst>
                <a:ext uri="{FF2B5EF4-FFF2-40B4-BE49-F238E27FC236}">
                  <a16:creationId xmlns:a16="http://schemas.microsoft.com/office/drawing/2014/main" id="{F0EDC24F-8D06-3ECE-2DA5-94678443F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11315" y="7073676"/>
              <a:ext cx="142875" cy="142875"/>
            </a:xfrm>
            <a:prstGeom prst="rect">
              <a:avLst/>
            </a:prstGeom>
          </p:spPr>
        </p:pic>
        <p:sp>
          <p:nvSpPr>
            <p:cNvPr id="109" name="Text 40">
              <a:extLst>
                <a:ext uri="{FF2B5EF4-FFF2-40B4-BE49-F238E27FC236}">
                  <a16:creationId xmlns:a16="http://schemas.microsoft.com/office/drawing/2014/main" id="{0E940614-EEDA-556A-6255-78C146A6CFDA}"/>
                </a:ext>
              </a:extLst>
            </p:cNvPr>
            <p:cNvSpPr/>
            <p:nvPr/>
          </p:nvSpPr>
          <p:spPr>
            <a:xfrm>
              <a:off x="4829510" y="7107094"/>
              <a:ext cx="657498" cy="2365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Energy</a:t>
              </a:r>
              <a:endParaRPr lang="en-US" sz="1350" dirty="0"/>
            </a:p>
          </p:txBody>
        </p:sp>
        <p:sp>
          <p:nvSpPr>
            <p:cNvPr id="110" name="Shape 41">
              <a:extLst>
                <a:ext uri="{FF2B5EF4-FFF2-40B4-BE49-F238E27FC236}">
                  <a16:creationId xmlns:a16="http://schemas.microsoft.com/office/drawing/2014/main" id="{A1E6379E-5CBC-9750-2DB3-81B6A01711DD}"/>
                </a:ext>
              </a:extLst>
            </p:cNvPr>
            <p:cNvSpPr/>
            <p:nvPr/>
          </p:nvSpPr>
          <p:spPr>
            <a:xfrm>
              <a:off x="5648027" y="6967389"/>
              <a:ext cx="2312169" cy="355451"/>
            </a:xfrm>
            <a:prstGeom prst="roundRect">
              <a:avLst>
                <a:gd name="adj" fmla="val 50000"/>
              </a:avLst>
            </a:prstGeom>
            <a:solidFill>
              <a:srgbClr val="F7F9FB"/>
            </a:solidFill>
            <a:ln w="7937">
              <a:solidFill>
                <a:srgbClr val="E2E8F0"/>
              </a:solidFill>
              <a:prstDash val="solid"/>
            </a:ln>
          </p:spPr>
        </p:sp>
        <p:pic>
          <p:nvPicPr>
            <p:cNvPr id="111" name="Image 13" descr="preencoded.png">
              <a:extLst>
                <a:ext uri="{FF2B5EF4-FFF2-40B4-BE49-F238E27FC236}">
                  <a16:creationId xmlns:a16="http://schemas.microsoft.com/office/drawing/2014/main" id="{90076F89-C7BD-E21C-C9DF-6E127FD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808265" y="7073676"/>
              <a:ext cx="142875" cy="142875"/>
            </a:xfrm>
            <a:prstGeom prst="rect">
              <a:avLst/>
            </a:prstGeom>
          </p:spPr>
        </p:pic>
        <p:sp>
          <p:nvSpPr>
            <p:cNvPr id="112" name="Text 42">
              <a:extLst>
                <a:ext uri="{FF2B5EF4-FFF2-40B4-BE49-F238E27FC236}">
                  <a16:creationId xmlns:a16="http://schemas.microsoft.com/office/drawing/2014/main" id="{32C2ABD9-0CEA-D8E7-E5F4-EEAB8C2CECB3}"/>
                </a:ext>
              </a:extLst>
            </p:cNvPr>
            <p:cNvSpPr/>
            <p:nvPr/>
          </p:nvSpPr>
          <p:spPr>
            <a:xfrm>
              <a:off x="6017741" y="7098213"/>
              <a:ext cx="1858417" cy="2365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Professional Services</a:t>
              </a:r>
              <a:endParaRPr lang="en-US" sz="1350" dirty="0"/>
            </a:p>
          </p:txBody>
        </p:sp>
      </p:grpSp>
      <p:sp>
        <p:nvSpPr>
          <p:cNvPr id="113" name="Shape 43">
            <a:extLst>
              <a:ext uri="{FF2B5EF4-FFF2-40B4-BE49-F238E27FC236}">
                <a16:creationId xmlns:a16="http://schemas.microsoft.com/office/drawing/2014/main" id="{C5CA62A8-220E-FE9A-D4BE-58B450F63CDC}"/>
              </a:ext>
            </a:extLst>
          </p:cNvPr>
          <p:cNvSpPr/>
          <p:nvPr/>
        </p:nvSpPr>
        <p:spPr>
          <a:xfrm>
            <a:off x="1028650" y="9720461"/>
            <a:ext cx="16230699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5" name="Text 44">
            <a:extLst>
              <a:ext uri="{FF2B5EF4-FFF2-40B4-BE49-F238E27FC236}">
                <a16:creationId xmlns:a16="http://schemas.microsoft.com/office/drawing/2014/main" id="{2C8BDE0C-0225-1FC2-CDC4-7043E7A58E2D}"/>
              </a:ext>
            </a:extLst>
          </p:cNvPr>
          <p:cNvSpPr/>
          <p:nvPr/>
        </p:nvSpPr>
        <p:spPr>
          <a:xfrm>
            <a:off x="16315779" y="9833074"/>
            <a:ext cx="1019770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25500" y="-762000"/>
            <a:ext cx="5334000" cy="5334000"/>
          </a:xfrm>
          <a:prstGeom prst="ellipse">
            <a:avLst/>
          </a:prstGeom>
          <a:solidFill>
            <a:srgbClr val="14B8A6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3335000" y="7810500"/>
            <a:ext cx="3048000" cy="3048000"/>
          </a:xfrm>
          <a:prstGeom prst="ellipse">
            <a:avLst/>
          </a:prstGeom>
          <a:solidFill>
            <a:srgbClr val="1E73BE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811000" y="152301"/>
            <a:ext cx="6477000" cy="10134699"/>
          </a:xfrm>
          <a:prstGeom prst="rect">
            <a:avLst/>
          </a:prstGeom>
          <a:solidFill>
            <a:srgbClr val="0B1220">
              <a:alpha val="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8387184" y="3312170"/>
            <a:ext cx="1513632" cy="26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kern="0" spc="180" dirty="0">
                <a:solidFill>
                  <a:srgbClr val="1E7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372009" y="3732857"/>
            <a:ext cx="11543982" cy="894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6300" b="1" kern="0" spc="-158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us explore this together.</a:t>
            </a:r>
            <a:endParaRPr lang="en-US" sz="6300" dirty="0"/>
          </a:p>
        </p:txBody>
      </p:sp>
      <p:sp>
        <p:nvSpPr>
          <p:cNvPr id="10" name="Text 6"/>
          <p:cNvSpPr/>
          <p:nvPr/>
        </p:nvSpPr>
        <p:spPr>
          <a:xfrm>
            <a:off x="3748087" y="4779367"/>
            <a:ext cx="107918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would welcome a POC/MVP to identify one high-impact workflow across your three practices and show you what automation looks like on your real data</a:t>
            </a:r>
            <a:endParaRPr lang="en-US" sz="1875" dirty="0"/>
          </a:p>
        </p:txBody>
      </p:sp>
      <p:sp>
        <p:nvSpPr>
          <p:cNvPr id="11" name="Shape 7"/>
          <p:cNvSpPr/>
          <p:nvPr/>
        </p:nvSpPr>
        <p:spPr>
          <a:xfrm>
            <a:off x="7016998" y="6150942"/>
            <a:ext cx="4254004" cy="720576"/>
          </a:xfrm>
          <a:prstGeom prst="roundRect">
            <a:avLst>
              <a:gd name="adj" fmla="val 14540"/>
            </a:avLst>
          </a:prstGeom>
          <a:solidFill>
            <a:srgbClr val="1E73BE"/>
          </a:solidFill>
          <a:ln/>
          <a:effectLst>
            <a:outerShdw blurRad="228600" dist="76200" dir="5400000" algn="bl" rotWithShape="0">
              <a:srgbClr val="1E73B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7016998" y="6225910"/>
            <a:ext cx="4254004" cy="536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!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7095232" y="7062018"/>
            <a:ext cx="221734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095232" y="7322344"/>
            <a:ext cx="221734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info@agilitytech.ai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9731598" y="7062018"/>
            <a:ext cx="1461046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9731598" y="7322344"/>
            <a:ext cx="146104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agilitytech.ai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028650" y="9720461"/>
            <a:ext cx="16230699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1028650" y="9833074"/>
            <a:ext cx="2372618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1763375" y="9833074"/>
            <a:ext cx="5660854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350" dirty="0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5928FE1C-FC19-AD84-1593-D2192E16F7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41319" y="-374200"/>
            <a:ext cx="2997087" cy="2119604"/>
          </a:xfrm>
          <a:prstGeom prst="rect">
            <a:avLst/>
          </a:prstGeom>
        </p:spPr>
      </p:pic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74123382-A3A2-1576-3FE6-64DE700F7D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55872" y="362936"/>
            <a:ext cx="4260910" cy="9310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1524</Words>
  <Application>Microsoft Office PowerPoint</Application>
  <PresentationFormat>Custom</PresentationFormat>
  <Paragraphs>275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Parshvi</cp:lastModifiedBy>
  <cp:revision>7</cp:revision>
  <dcterms:created xsi:type="dcterms:W3CDTF">2026-06-11T11:58:05Z</dcterms:created>
  <dcterms:modified xsi:type="dcterms:W3CDTF">2026-06-12T14:01:55Z</dcterms:modified>
</cp:coreProperties>
</file>